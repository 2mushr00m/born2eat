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8" r:id="rId2"/>
    <p:sldId id="294" r:id="rId3"/>
    <p:sldId id="269" r:id="rId4"/>
    <p:sldId id="271" r:id="rId5"/>
    <p:sldId id="290" r:id="rId6"/>
    <p:sldId id="270" r:id="rId7"/>
    <p:sldId id="283" r:id="rId8"/>
    <p:sldId id="295" r:id="rId9"/>
    <p:sldId id="274" r:id="rId10"/>
    <p:sldId id="284" r:id="rId11"/>
    <p:sldId id="285" r:id="rId12"/>
    <p:sldId id="286" r:id="rId13"/>
    <p:sldId id="278" r:id="rId14"/>
    <p:sldId id="287" r:id="rId15"/>
    <p:sldId id="296" r:id="rId16"/>
    <p:sldId id="280" r:id="rId17"/>
    <p:sldId id="293" r:id="rId18"/>
    <p:sldId id="281" r:id="rId19"/>
    <p:sldId id="291" r:id="rId20"/>
    <p:sldId id="292" r:id="rId21"/>
  </p:sldIdLst>
  <p:sldSz cx="6858000" cy="9906000" type="A4"/>
  <p:notesSz cx="6858000" cy="9144000"/>
  <p:defaultTextStyle>
    <a:defPPr>
      <a:defRPr lang="ko-KR"/>
    </a:defPPr>
    <a:lvl1pPr marL="0" algn="l" defTabSz="538764" rtl="0" eaLnBrk="1" latinLnBrk="1" hangingPunct="1">
      <a:defRPr sz="1061" kern="1200">
        <a:solidFill>
          <a:schemeClr val="tx1"/>
        </a:solidFill>
        <a:latin typeface="+mn-lt"/>
        <a:ea typeface="+mn-ea"/>
        <a:cs typeface="+mn-cs"/>
      </a:defRPr>
    </a:lvl1pPr>
    <a:lvl2pPr marL="269382" algn="l" defTabSz="538764" rtl="0" eaLnBrk="1" latinLnBrk="1" hangingPunct="1">
      <a:defRPr sz="1061" kern="1200">
        <a:solidFill>
          <a:schemeClr val="tx1"/>
        </a:solidFill>
        <a:latin typeface="+mn-lt"/>
        <a:ea typeface="+mn-ea"/>
        <a:cs typeface="+mn-cs"/>
      </a:defRPr>
    </a:lvl2pPr>
    <a:lvl3pPr marL="538764" algn="l" defTabSz="538764" rtl="0" eaLnBrk="1" latinLnBrk="1" hangingPunct="1">
      <a:defRPr sz="1061" kern="1200">
        <a:solidFill>
          <a:schemeClr val="tx1"/>
        </a:solidFill>
        <a:latin typeface="+mn-lt"/>
        <a:ea typeface="+mn-ea"/>
        <a:cs typeface="+mn-cs"/>
      </a:defRPr>
    </a:lvl3pPr>
    <a:lvl4pPr marL="808147" algn="l" defTabSz="538764" rtl="0" eaLnBrk="1" latinLnBrk="1" hangingPunct="1">
      <a:defRPr sz="1061" kern="1200">
        <a:solidFill>
          <a:schemeClr val="tx1"/>
        </a:solidFill>
        <a:latin typeface="+mn-lt"/>
        <a:ea typeface="+mn-ea"/>
        <a:cs typeface="+mn-cs"/>
      </a:defRPr>
    </a:lvl4pPr>
    <a:lvl5pPr marL="1077529" algn="l" defTabSz="538764" rtl="0" eaLnBrk="1" latinLnBrk="1" hangingPunct="1">
      <a:defRPr sz="1061" kern="1200">
        <a:solidFill>
          <a:schemeClr val="tx1"/>
        </a:solidFill>
        <a:latin typeface="+mn-lt"/>
        <a:ea typeface="+mn-ea"/>
        <a:cs typeface="+mn-cs"/>
      </a:defRPr>
    </a:lvl5pPr>
    <a:lvl6pPr marL="1346911" algn="l" defTabSz="538764" rtl="0" eaLnBrk="1" latinLnBrk="1" hangingPunct="1">
      <a:defRPr sz="1061" kern="1200">
        <a:solidFill>
          <a:schemeClr val="tx1"/>
        </a:solidFill>
        <a:latin typeface="+mn-lt"/>
        <a:ea typeface="+mn-ea"/>
        <a:cs typeface="+mn-cs"/>
      </a:defRPr>
    </a:lvl6pPr>
    <a:lvl7pPr marL="1616293" algn="l" defTabSz="538764" rtl="0" eaLnBrk="1" latinLnBrk="1" hangingPunct="1">
      <a:defRPr sz="1061" kern="1200">
        <a:solidFill>
          <a:schemeClr val="tx1"/>
        </a:solidFill>
        <a:latin typeface="+mn-lt"/>
        <a:ea typeface="+mn-ea"/>
        <a:cs typeface="+mn-cs"/>
      </a:defRPr>
    </a:lvl7pPr>
    <a:lvl8pPr marL="1885676" algn="l" defTabSz="538764" rtl="0" eaLnBrk="1" latinLnBrk="1" hangingPunct="1">
      <a:defRPr sz="1061" kern="1200">
        <a:solidFill>
          <a:schemeClr val="tx1"/>
        </a:solidFill>
        <a:latin typeface="+mn-lt"/>
        <a:ea typeface="+mn-ea"/>
        <a:cs typeface="+mn-cs"/>
      </a:defRPr>
    </a:lvl8pPr>
    <a:lvl9pPr marL="2155058" algn="l" defTabSz="538764" rtl="0" eaLnBrk="1" latinLnBrk="1" hangingPunct="1">
      <a:defRPr sz="106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59" autoAdjust="0"/>
    <p:restoredTop sz="94660"/>
  </p:normalViewPr>
  <p:slideViewPr>
    <p:cSldViewPr snapToGrid="0">
      <p:cViewPr>
        <p:scale>
          <a:sx n="75" d="100"/>
          <a:sy n="75" d="100"/>
        </p:scale>
        <p:origin x="376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36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12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2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63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08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840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21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621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27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98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11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C15B5-561E-4FAA-B905-48B6ACA3BD37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9E155-7094-46C9-AF3A-813421A2B1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32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mailto:gini@mail.com" TargetMode="External"/><Relationship Id="rId3" Type="http://schemas.openxmlformats.org/officeDocument/2006/relationships/hyperlink" Target="mailto:chulsu@mail.com" TargetMode="External"/><Relationship Id="rId7" Type="http://schemas.openxmlformats.org/officeDocument/2006/relationships/hyperlink" Target="mailto:gayoung@mail.com" TargetMode="External"/><Relationship Id="rId2" Type="http://schemas.openxmlformats.org/officeDocument/2006/relationships/hyperlink" Target="mailto:gildong@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miso@mail.com" TargetMode="External"/><Relationship Id="rId11" Type="http://schemas.openxmlformats.org/officeDocument/2006/relationships/hyperlink" Target="mailto:yuri@mail.com" TargetMode="External"/><Relationship Id="rId5" Type="http://schemas.openxmlformats.org/officeDocument/2006/relationships/hyperlink" Target="mailto:jjanga@mail.com" TargetMode="External"/><Relationship Id="rId10" Type="http://schemas.openxmlformats.org/officeDocument/2006/relationships/hyperlink" Target="mailto:jangdo@mail.com" TargetMode="External"/><Relationship Id="rId4" Type="http://schemas.openxmlformats.org/officeDocument/2006/relationships/hyperlink" Target="mailto:shinjjanggu@mail.com" TargetMode="External"/><Relationship Id="rId9" Type="http://schemas.openxmlformats.org/officeDocument/2006/relationships/hyperlink" Target="mailto:yebin@mail.co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-1" y="1458"/>
            <a:ext cx="1564105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직사각형 3"/>
          <p:cNvSpPr/>
          <p:nvPr/>
        </p:nvSpPr>
        <p:spPr>
          <a:xfrm>
            <a:off x="-1690439" y="167710"/>
            <a:ext cx="1509964" cy="49402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관리자 대시보드</a:t>
            </a:r>
            <a:endParaRPr lang="en-US" altLang="ko-KR" sz="1400"/>
          </a:p>
          <a:p>
            <a:pPr algn="ctr"/>
            <a:r>
              <a:rPr lang="en-US" altLang="ko-KR" sz="1400"/>
              <a:t>(</a:t>
            </a:r>
            <a:r>
              <a:rPr lang="ko-KR" altLang="en-US" sz="1400"/>
              <a:t>태그 </a:t>
            </a:r>
            <a:r>
              <a:rPr lang="en-US" altLang="ko-KR" sz="1400"/>
              <a:t>– </a:t>
            </a:r>
            <a:r>
              <a:rPr lang="ko-KR" altLang="en-US" sz="1400"/>
              <a:t>모양</a:t>
            </a:r>
            <a:r>
              <a:rPr lang="en-US" altLang="ko-KR" sz="1400"/>
              <a:t>)</a:t>
            </a:r>
            <a:endParaRPr lang="ko-KR" altLang="en-US" sz="14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2031" y="897838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>
                <a:solidFill>
                  <a:schemeClr val="bg1"/>
                </a:solidFill>
              </a:rPr>
              <a:t>관리자 페이지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699462" y="864813"/>
            <a:ext cx="1552071" cy="112802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신규회원</a:t>
            </a:r>
            <a:endParaRPr lang="en-US" altLang="ko-KR" sz="1500"/>
          </a:p>
          <a:p>
            <a:pPr algn="ctr"/>
            <a:r>
              <a:rPr lang="en-US" altLang="ko-KR" sz="3200" b="1"/>
              <a:t>10</a:t>
            </a:r>
            <a:r>
              <a:rPr lang="en-US" altLang="ko-KR" sz="1600" b="1"/>
              <a:t> </a:t>
            </a:r>
            <a:r>
              <a:rPr lang="ko-KR" altLang="en-US" sz="1500"/>
              <a:t>명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3395911" y="864812"/>
            <a:ext cx="1552071" cy="112802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전체회원</a:t>
            </a:r>
            <a:endParaRPr lang="en-US" altLang="ko-KR" sz="1500"/>
          </a:p>
          <a:p>
            <a:pPr algn="ctr"/>
            <a:r>
              <a:rPr lang="en-US" altLang="ko-KR" sz="3200" b="1"/>
              <a:t>30</a:t>
            </a:r>
            <a:r>
              <a:rPr lang="en-US" altLang="ko-KR" sz="1600" b="1"/>
              <a:t> </a:t>
            </a:r>
            <a:r>
              <a:rPr lang="ko-KR" altLang="en-US" sz="1500"/>
              <a:t>명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126955" y="861755"/>
            <a:ext cx="1552071" cy="112802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등록식당수</a:t>
            </a:r>
            <a:endParaRPr lang="en-US" altLang="ko-KR" sz="1500"/>
          </a:p>
          <a:p>
            <a:pPr algn="ctr"/>
            <a:r>
              <a:rPr lang="en-US" altLang="ko-KR" sz="3200" b="1"/>
              <a:t>100</a:t>
            </a:r>
            <a:r>
              <a:rPr lang="en-US" altLang="ko-KR" sz="1600" b="1"/>
              <a:t> </a:t>
            </a:r>
            <a:r>
              <a:rPr lang="ko-KR" altLang="en-US" sz="1500"/>
              <a:t>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702842" y="2237871"/>
            <a:ext cx="3245140" cy="20737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최근 리뷰 </a:t>
            </a:r>
            <a:r>
              <a:rPr lang="en-US" altLang="ko-KR" sz="1500"/>
              <a:t>(5</a:t>
            </a:r>
            <a:r>
              <a:rPr lang="ko-KR" altLang="en-US" sz="1500"/>
              <a:t>개</a:t>
            </a:r>
            <a:r>
              <a:rPr lang="en-US" altLang="ko-KR" sz="1500"/>
              <a:t>)</a:t>
            </a:r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ko-KR" altLang="en-US" sz="150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565776"/>
              </p:ext>
            </p:extLst>
          </p:nvPr>
        </p:nvGraphicFramePr>
        <p:xfrm>
          <a:off x="1787820" y="2764379"/>
          <a:ext cx="3073684" cy="146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939">
                  <a:extLst>
                    <a:ext uri="{9D8B030D-6E8A-4147-A177-3AD203B41FA5}">
                      <a16:colId xmlns:a16="http://schemas.microsoft.com/office/drawing/2014/main" val="269965576"/>
                    </a:ext>
                  </a:extLst>
                </a:gridCol>
                <a:gridCol w="878629">
                  <a:extLst>
                    <a:ext uri="{9D8B030D-6E8A-4147-A177-3AD203B41FA5}">
                      <a16:colId xmlns:a16="http://schemas.microsoft.com/office/drawing/2014/main" val="1232283301"/>
                    </a:ext>
                  </a:extLst>
                </a:gridCol>
                <a:gridCol w="586560">
                  <a:extLst>
                    <a:ext uri="{9D8B030D-6E8A-4147-A177-3AD203B41FA5}">
                      <a16:colId xmlns:a16="http://schemas.microsoft.com/office/drawing/2014/main" val="3275594666"/>
                    </a:ext>
                  </a:extLst>
                </a:gridCol>
                <a:gridCol w="793556">
                  <a:extLst>
                    <a:ext uri="{9D8B030D-6E8A-4147-A177-3AD203B41FA5}">
                      <a16:colId xmlns:a16="http://schemas.microsoft.com/office/drawing/2014/main" val="2398519148"/>
                    </a:ext>
                  </a:extLst>
                </a:gridCol>
              </a:tblGrid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가게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회원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평점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리뷰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63822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순자네 순댓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닉네임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0" i="0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국물이 진하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496051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할머니 보쌈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Arial_0192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0" i="0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그냥그런 맛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804821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김밥천국 기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sunny33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직원이 불친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849377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청년다방 용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tasty_72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신메뉴가 맛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365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김가네</a:t>
                      </a:r>
                      <a:r>
                        <a:rPr lang="ko-KR" altLang="en-US" sz="800" baseline="0">
                          <a:solidFill>
                            <a:schemeClr val="bg1"/>
                          </a:solidFill>
                        </a:rPr>
                        <a:t> 용인 </a:t>
                      </a:r>
                      <a:r>
                        <a:rPr lang="en-US" altLang="ko-KR" sz="800" baseline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eating_daily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너무 평범한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135228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1711493" y="4403200"/>
            <a:ext cx="3236490" cy="21893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미답변 문의 </a:t>
            </a:r>
            <a:r>
              <a:rPr lang="en-US" altLang="ko-KR" sz="1500"/>
              <a:t>(n</a:t>
            </a:r>
            <a:r>
              <a:rPr lang="ko-KR" altLang="en-US" sz="1500"/>
              <a:t>개</a:t>
            </a:r>
            <a:r>
              <a:rPr lang="en-US" altLang="ko-KR" sz="1500"/>
              <a:t>)</a:t>
            </a:r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ko-KR" altLang="en-US" sz="150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771224"/>
              </p:ext>
            </p:extLst>
          </p:nvPr>
        </p:nvGraphicFramePr>
        <p:xfrm>
          <a:off x="1819596" y="4989120"/>
          <a:ext cx="3027430" cy="146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356">
                  <a:extLst>
                    <a:ext uri="{9D8B030D-6E8A-4147-A177-3AD203B41FA5}">
                      <a16:colId xmlns:a16="http://schemas.microsoft.com/office/drawing/2014/main" val="2699655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8994246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1232283301"/>
                    </a:ext>
                  </a:extLst>
                </a:gridCol>
                <a:gridCol w="731934">
                  <a:extLst>
                    <a:ext uri="{9D8B030D-6E8A-4147-A177-3AD203B41FA5}">
                      <a16:colId xmlns:a16="http://schemas.microsoft.com/office/drawing/2014/main" val="3275594666"/>
                    </a:ext>
                  </a:extLst>
                </a:gridCol>
              </a:tblGrid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제목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종류</a:t>
                      </a:r>
                      <a:endParaRPr lang="en-US" altLang="ko-KR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작성자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문의일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63822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회원가입 했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일반문의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clskdj22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2025-11-30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496051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주소가 잘못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제보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tasty+_72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2025-12-01</a:t>
                      </a:r>
                      <a:endParaRPr lang="ko-KR" altLang="en-US" sz="800" b="0" i="0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804821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메뉴 갱신이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제보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Imchulsu00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2025-12-01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849377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가격이 달라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제보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dddstory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2025-12-07</a:t>
                      </a:r>
                      <a:endParaRPr lang="en-US" altLang="ko-KR" sz="800" b="0" i="0" kern="1200" baseline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365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가게가 폐업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제보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iloverestaurant7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2025-12-10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135228"/>
                  </a:ext>
                </a:extLst>
              </a:tr>
            </a:tbl>
          </a:graphicData>
        </a:graphic>
      </p:graphicFrame>
      <p:sp>
        <p:nvSpPr>
          <p:cNvPr id="25" name="직사각형 24"/>
          <p:cNvSpPr/>
          <p:nvPr/>
        </p:nvSpPr>
        <p:spPr>
          <a:xfrm>
            <a:off x="5126955" y="2237871"/>
            <a:ext cx="1550571" cy="435469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태그</a:t>
            </a:r>
            <a:r>
              <a:rPr lang="ko-KR" altLang="en-US" sz="1500"/>
              <a:t> </a:t>
            </a:r>
            <a:r>
              <a:rPr lang="en-US" altLang="ko-KR" sz="1600"/>
              <a:t>TOP 10</a:t>
            </a:r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ko-KR" altLang="en-US" sz="150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5502456" y="4250621"/>
            <a:ext cx="906211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반려동물 동반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531847" y="2860670"/>
            <a:ext cx="556961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데이트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499334" y="3889412"/>
            <a:ext cx="682960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가족모임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502456" y="5622172"/>
            <a:ext cx="562808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깨끗한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532509" y="3205436"/>
            <a:ext cx="666587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로맨틱한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5502861" y="4596489"/>
            <a:ext cx="593799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친절한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5502456" y="4933298"/>
            <a:ext cx="787081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풍경이 좋은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509577" y="3534920"/>
            <a:ext cx="1020912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사진이 잘 나오는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5505016" y="5285021"/>
            <a:ext cx="694080" cy="2140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주차 가능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5502456" y="5954699"/>
            <a:ext cx="664684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지역화폐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384129"/>
              </p:ext>
            </p:extLst>
          </p:nvPr>
        </p:nvGraphicFramePr>
        <p:xfrm>
          <a:off x="5171092" y="2777598"/>
          <a:ext cx="331858" cy="3435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58">
                  <a:extLst>
                    <a:ext uri="{9D8B030D-6E8A-4147-A177-3AD203B41FA5}">
                      <a16:colId xmlns:a16="http://schemas.microsoft.com/office/drawing/2014/main" val="269965576"/>
                    </a:ext>
                  </a:extLst>
                </a:gridCol>
              </a:tblGrid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121369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804821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849377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6365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135228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38430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080245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054299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457240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892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41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-1" y="1458"/>
            <a:ext cx="1564105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직사각형 3"/>
          <p:cNvSpPr/>
          <p:nvPr/>
        </p:nvSpPr>
        <p:spPr>
          <a:xfrm>
            <a:off x="-1690439" y="167710"/>
            <a:ext cx="1509964" cy="49402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관리자 대시보드</a:t>
            </a:r>
            <a:endParaRPr lang="en-US" altLang="ko-KR" sz="1400"/>
          </a:p>
          <a:p>
            <a:pPr algn="ctr"/>
            <a:r>
              <a:rPr lang="en-US" altLang="ko-KR" sz="1400"/>
              <a:t>(</a:t>
            </a:r>
            <a:r>
              <a:rPr lang="ko-KR" altLang="en-US" sz="1400"/>
              <a:t>태그 </a:t>
            </a:r>
            <a:r>
              <a:rPr lang="en-US" altLang="ko-KR" sz="1400"/>
              <a:t>– </a:t>
            </a:r>
            <a:r>
              <a:rPr lang="ko-KR" altLang="en-US" sz="1400"/>
              <a:t>표</a:t>
            </a:r>
            <a:r>
              <a:rPr lang="en-US" altLang="ko-KR" sz="1400"/>
              <a:t>)</a:t>
            </a:r>
            <a:endParaRPr lang="ko-KR" altLang="en-US" sz="14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2031" y="897838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>
                <a:solidFill>
                  <a:schemeClr val="bg1"/>
                </a:solidFill>
              </a:rPr>
              <a:t>관리자 페이지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699462" y="864813"/>
            <a:ext cx="1552071" cy="112802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신규회원</a:t>
            </a:r>
            <a:endParaRPr lang="en-US" altLang="ko-KR" sz="1500"/>
          </a:p>
          <a:p>
            <a:pPr algn="ctr"/>
            <a:r>
              <a:rPr lang="en-US" altLang="ko-KR" sz="3200" b="1"/>
              <a:t>10</a:t>
            </a:r>
            <a:r>
              <a:rPr lang="en-US" altLang="ko-KR" sz="1600" b="1"/>
              <a:t> </a:t>
            </a:r>
            <a:r>
              <a:rPr lang="ko-KR" altLang="en-US" sz="1500"/>
              <a:t>명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3395911" y="864812"/>
            <a:ext cx="1552071" cy="112802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전체회원</a:t>
            </a:r>
            <a:endParaRPr lang="en-US" altLang="ko-KR" sz="1500"/>
          </a:p>
          <a:p>
            <a:pPr algn="ctr"/>
            <a:r>
              <a:rPr lang="en-US" altLang="ko-KR" sz="3200" b="1"/>
              <a:t>30</a:t>
            </a:r>
            <a:r>
              <a:rPr lang="en-US" altLang="ko-KR" sz="1600" b="1"/>
              <a:t> </a:t>
            </a:r>
            <a:r>
              <a:rPr lang="ko-KR" altLang="en-US" sz="1500"/>
              <a:t>명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126955" y="861755"/>
            <a:ext cx="1552071" cy="112802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등록식당수</a:t>
            </a:r>
            <a:endParaRPr lang="en-US" altLang="ko-KR" sz="1500"/>
          </a:p>
          <a:p>
            <a:pPr algn="ctr"/>
            <a:r>
              <a:rPr lang="en-US" altLang="ko-KR" sz="3200" b="1"/>
              <a:t>100</a:t>
            </a:r>
            <a:r>
              <a:rPr lang="en-US" altLang="ko-KR" sz="1600" b="1"/>
              <a:t> </a:t>
            </a:r>
            <a:r>
              <a:rPr lang="ko-KR" altLang="en-US" sz="1500"/>
              <a:t>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702842" y="2237871"/>
            <a:ext cx="3245140" cy="20737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최근 리뷰 </a:t>
            </a:r>
            <a:r>
              <a:rPr lang="en-US" altLang="ko-KR" sz="1500"/>
              <a:t>(5</a:t>
            </a:r>
            <a:r>
              <a:rPr lang="ko-KR" altLang="en-US" sz="1500"/>
              <a:t>개</a:t>
            </a:r>
            <a:r>
              <a:rPr lang="en-US" altLang="ko-KR" sz="1500"/>
              <a:t>)</a:t>
            </a:r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ko-KR" altLang="en-US" sz="150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44822"/>
              </p:ext>
            </p:extLst>
          </p:nvPr>
        </p:nvGraphicFramePr>
        <p:xfrm>
          <a:off x="1787820" y="2764379"/>
          <a:ext cx="3073684" cy="146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939">
                  <a:extLst>
                    <a:ext uri="{9D8B030D-6E8A-4147-A177-3AD203B41FA5}">
                      <a16:colId xmlns:a16="http://schemas.microsoft.com/office/drawing/2014/main" val="269965576"/>
                    </a:ext>
                  </a:extLst>
                </a:gridCol>
                <a:gridCol w="878629">
                  <a:extLst>
                    <a:ext uri="{9D8B030D-6E8A-4147-A177-3AD203B41FA5}">
                      <a16:colId xmlns:a16="http://schemas.microsoft.com/office/drawing/2014/main" val="1232283301"/>
                    </a:ext>
                  </a:extLst>
                </a:gridCol>
                <a:gridCol w="586560">
                  <a:extLst>
                    <a:ext uri="{9D8B030D-6E8A-4147-A177-3AD203B41FA5}">
                      <a16:colId xmlns:a16="http://schemas.microsoft.com/office/drawing/2014/main" val="3275594666"/>
                    </a:ext>
                  </a:extLst>
                </a:gridCol>
                <a:gridCol w="793556">
                  <a:extLst>
                    <a:ext uri="{9D8B030D-6E8A-4147-A177-3AD203B41FA5}">
                      <a16:colId xmlns:a16="http://schemas.microsoft.com/office/drawing/2014/main" val="2398519148"/>
                    </a:ext>
                  </a:extLst>
                </a:gridCol>
              </a:tblGrid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가게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회원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평점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리뷰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63822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순자네 순댓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0203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0" i="0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국물이 진하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496051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할머니 보쌈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2001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0" i="0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그냥그런 맛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804821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김밥천국 기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0002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직원이 불친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849377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청년다방 용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0129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신메뉴가 맛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365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김가네</a:t>
                      </a:r>
                      <a:r>
                        <a:rPr lang="ko-KR" altLang="en-US" sz="800" baseline="0">
                          <a:solidFill>
                            <a:schemeClr val="bg1"/>
                          </a:solidFill>
                        </a:rPr>
                        <a:t> 용인 </a:t>
                      </a:r>
                      <a:r>
                        <a:rPr lang="en-US" altLang="ko-KR" sz="800" baseline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0558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너무 평범한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135228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1711493" y="4403200"/>
            <a:ext cx="3236490" cy="21893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미답변 문의 </a:t>
            </a:r>
            <a:r>
              <a:rPr lang="en-US" altLang="ko-KR" sz="1500"/>
              <a:t>(n</a:t>
            </a:r>
            <a:r>
              <a:rPr lang="ko-KR" altLang="en-US" sz="1500"/>
              <a:t>개</a:t>
            </a:r>
            <a:r>
              <a:rPr lang="en-US" altLang="ko-KR" sz="1500"/>
              <a:t>)</a:t>
            </a:r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ko-KR" altLang="en-US" sz="150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59005"/>
              </p:ext>
            </p:extLst>
          </p:nvPr>
        </p:nvGraphicFramePr>
        <p:xfrm>
          <a:off x="1819596" y="4989120"/>
          <a:ext cx="3027430" cy="146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356">
                  <a:extLst>
                    <a:ext uri="{9D8B030D-6E8A-4147-A177-3AD203B41FA5}">
                      <a16:colId xmlns:a16="http://schemas.microsoft.com/office/drawing/2014/main" val="2699655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8994246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1232283301"/>
                    </a:ext>
                  </a:extLst>
                </a:gridCol>
                <a:gridCol w="731934">
                  <a:extLst>
                    <a:ext uri="{9D8B030D-6E8A-4147-A177-3AD203B41FA5}">
                      <a16:colId xmlns:a16="http://schemas.microsoft.com/office/drawing/2014/main" val="3275594666"/>
                    </a:ext>
                  </a:extLst>
                </a:gridCol>
              </a:tblGrid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제목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종류</a:t>
                      </a:r>
                      <a:endParaRPr lang="en-US" altLang="ko-KR" sz="9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작성자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문의일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63822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회원가입 했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일반문의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1124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2025-11-30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496051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주소가 잘못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제보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1003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2025-12-01</a:t>
                      </a:r>
                      <a:endParaRPr lang="ko-KR" altLang="en-US" sz="800" b="0" i="0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804821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메뉴 갱신이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제보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0139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2025-12-01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849377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가격이 달라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제보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1019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2025-12-07</a:t>
                      </a:r>
                      <a:endParaRPr lang="en-US" altLang="ko-KR" sz="800" b="0" i="0" kern="1200" baseline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365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가게가 폐업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제보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먹보</a:t>
                      </a:r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0048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2025-12-10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135228"/>
                  </a:ext>
                </a:extLst>
              </a:tr>
            </a:tbl>
          </a:graphicData>
        </a:graphic>
      </p:graphicFrame>
      <p:sp>
        <p:nvSpPr>
          <p:cNvPr id="25" name="직사각형 24"/>
          <p:cNvSpPr/>
          <p:nvPr/>
        </p:nvSpPr>
        <p:spPr>
          <a:xfrm>
            <a:off x="5126955" y="2237871"/>
            <a:ext cx="1550571" cy="435469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태그</a:t>
            </a:r>
            <a:r>
              <a:rPr lang="ko-KR" altLang="en-US" sz="1500"/>
              <a:t> </a:t>
            </a:r>
            <a:r>
              <a:rPr lang="en-US" altLang="ko-KR" sz="1600"/>
              <a:t>TOP 10</a:t>
            </a:r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en-US" altLang="ko-KR" sz="1500"/>
          </a:p>
          <a:p>
            <a:pPr algn="ctr"/>
            <a:endParaRPr lang="ko-KR" altLang="en-US" sz="1500"/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799450"/>
              </p:ext>
            </p:extLst>
          </p:nvPr>
        </p:nvGraphicFramePr>
        <p:xfrm>
          <a:off x="5207882" y="2779618"/>
          <a:ext cx="1388716" cy="3678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58">
                  <a:extLst>
                    <a:ext uri="{9D8B030D-6E8A-4147-A177-3AD203B41FA5}">
                      <a16:colId xmlns:a16="http://schemas.microsoft.com/office/drawing/2014/main" val="269965576"/>
                    </a:ext>
                  </a:extLst>
                </a:gridCol>
                <a:gridCol w="1056858">
                  <a:extLst>
                    <a:ext uri="{9D8B030D-6E8A-4147-A177-3AD203B41FA5}">
                      <a16:colId xmlns:a16="http://schemas.microsoft.com/office/drawing/2014/main" val="2899424601"/>
                    </a:ext>
                  </a:extLst>
                </a:gridCol>
              </a:tblGrid>
              <a:tr h="242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태그</a:t>
                      </a:r>
                      <a:endParaRPr lang="en-US" altLang="ko-KR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63822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데이트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496051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로맨틱한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804821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사진이 잘 나오는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849377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가족모임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6365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반려동물 동반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135228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친절한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38430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풍경이 좋은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080245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주차 가능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54299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깨끗한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457240"/>
                  </a:ext>
                </a:extLst>
              </a:tr>
              <a:tr h="343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bg1"/>
                          </a:solidFill>
                        </a:rPr>
                        <a:t>지역화폐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892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9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163322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 - </a:t>
            </a:r>
            <a:r>
              <a:rPr lang="ko-KR" altLang="en-US" sz="1300" b="1">
                <a:solidFill>
                  <a:schemeClr val="bg1"/>
                </a:solidFill>
              </a:rPr>
              <a:t>회원목록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552073" y="661737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5" name="직사각형 14"/>
          <p:cNvSpPr/>
          <p:nvPr/>
        </p:nvSpPr>
        <p:spPr>
          <a:xfrm>
            <a:off x="-1690439" y="167710"/>
            <a:ext cx="1509964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회원 목록 페이지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5790" y="917348"/>
            <a:ext cx="1275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 </a:t>
            </a:r>
            <a:r>
              <a:rPr lang="ko-KR" altLang="en-US" sz="1100" b="1"/>
              <a:t> </a:t>
            </a:r>
            <a:r>
              <a:rPr lang="ko-KR" altLang="en-US" sz="1600" b="1"/>
              <a:t>회원목록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928057" y="1464850"/>
            <a:ext cx="3997493" cy="2776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925550" y="1464850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543549" y="1842410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최근가입순 ▼</a:t>
            </a: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598858"/>
              </p:ext>
            </p:extLst>
          </p:nvPr>
        </p:nvGraphicFramePr>
        <p:xfrm>
          <a:off x="1928056" y="2336678"/>
          <a:ext cx="4466724" cy="260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763">
                  <a:extLst>
                    <a:ext uri="{9D8B030D-6E8A-4147-A177-3AD203B41FA5}">
                      <a16:colId xmlns:a16="http://schemas.microsoft.com/office/drawing/2014/main" val="213781445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682181875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570149045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418066701"/>
                    </a:ext>
                  </a:extLst>
                </a:gridCol>
                <a:gridCol w="544927">
                  <a:extLst>
                    <a:ext uri="{9D8B030D-6E8A-4147-A177-3AD203B41FA5}">
                      <a16:colId xmlns:a16="http://schemas.microsoft.com/office/drawing/2014/main" val="374499653"/>
                    </a:ext>
                  </a:extLst>
                </a:gridCol>
                <a:gridCol w="744454">
                  <a:extLst>
                    <a:ext uri="{9D8B030D-6E8A-4147-A177-3AD203B41FA5}">
                      <a16:colId xmlns:a16="http://schemas.microsoft.com/office/drawing/2014/main" val="1490768269"/>
                    </a:ext>
                  </a:extLst>
                </a:gridCol>
              </a:tblGrid>
              <a:tr h="224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No.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name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id(email)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연락처</a:t>
                      </a: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status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가입일</a:t>
                      </a: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7671"/>
                  </a:ext>
                </a:extLst>
              </a:tr>
              <a:tr h="247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30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0094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2"/>
                        </a:rPr>
                        <a:t>gildong@mail.com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000-0000-0000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2025-12-10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849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29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1003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3"/>
                        </a:rPr>
                        <a:t>chulsu@mail.com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000-1111-1111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2025-12-09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13972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28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0009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4"/>
                        </a:rPr>
                        <a:t>jjanggu@mail.com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000-2222-2222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2025-11-28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38634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27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0003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5"/>
                        </a:rPr>
                        <a:t>jjanga@mail.com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000-3333-3333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2025-11-26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4233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26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2049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6"/>
                        </a:rPr>
                        <a:t>miso@mail.com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000-4444-4444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2025-11-16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11618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25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4919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7"/>
                        </a:rPr>
                        <a:t>gayoung@mail.com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000-5555-5555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2025-11-05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88884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24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9992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8"/>
                        </a:rPr>
                        <a:t>gini@mail.com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000-6666-6666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2025-09-11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0509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23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0002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9"/>
                        </a:rPr>
                        <a:t>yebin@mail.com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000-7777-7777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2025-09-10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0454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22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0204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10"/>
                        </a:rPr>
                        <a:t>jangdo@mail.com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000-8888-8888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2025-09-10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3481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21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0130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hlinkClick r:id="rId11"/>
                        </a:rPr>
                        <a:t>yuri@mail.com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000-9999-9999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2025-08-24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82791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24587"/>
              </p:ext>
            </p:extLst>
          </p:nvPr>
        </p:nvGraphicFramePr>
        <p:xfrm>
          <a:off x="3429000" y="5187143"/>
          <a:ext cx="145796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7219729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582776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30601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72996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266059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93939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08232035"/>
                    </a:ext>
                  </a:extLst>
                </a:gridCol>
              </a:tblGrid>
              <a:tr h="1371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&lt;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700" b="1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&gt;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29173"/>
                  </a:ext>
                </a:extLst>
              </a:tr>
            </a:tbl>
          </a:graphicData>
        </a:graphic>
      </p:graphicFrame>
      <p:sp>
        <p:nvSpPr>
          <p:cNvPr id="25" name="모서리가 둥근 직사각형 24"/>
          <p:cNvSpPr/>
          <p:nvPr/>
        </p:nvSpPr>
        <p:spPr>
          <a:xfrm>
            <a:off x="5172075" y="2603712"/>
            <a:ext cx="409574" cy="1619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정상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172075" y="2855082"/>
            <a:ext cx="409574" cy="1619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정상</a:t>
            </a: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172075" y="3329713"/>
            <a:ext cx="409574" cy="1619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정상</a:t>
            </a: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172075" y="3825669"/>
            <a:ext cx="409574" cy="1619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정상</a:t>
            </a: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172075" y="4527407"/>
            <a:ext cx="409574" cy="1619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정상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172075" y="4756328"/>
            <a:ext cx="409574" cy="1619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정상</a:t>
            </a: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172075" y="3096125"/>
            <a:ext cx="409574" cy="1619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정지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172075" y="3573931"/>
            <a:ext cx="409574" cy="161924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탈퇴</a:t>
            </a: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172075" y="4069787"/>
            <a:ext cx="409574" cy="161924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탈퇴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172075" y="4297041"/>
            <a:ext cx="409574" cy="1619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정지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5543549" y="5606171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</a:rPr>
              <a:t>최근가입순 ▼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5543549" y="5812535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이름순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5543549" y="6018899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리뷰 많은순</a:t>
            </a:r>
          </a:p>
        </p:txBody>
      </p:sp>
      <p:cxnSp>
        <p:nvCxnSpPr>
          <p:cNvPr id="41" name="직선 화살표 연결선 40"/>
          <p:cNvCxnSpPr>
            <a:cxnSpLocks/>
            <a:endCxn id="37" idx="0"/>
          </p:cNvCxnSpPr>
          <p:nvPr/>
        </p:nvCxnSpPr>
        <p:spPr>
          <a:xfrm>
            <a:off x="5969165" y="2048774"/>
            <a:ext cx="0" cy="3557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53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163322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 - </a:t>
            </a:r>
            <a:r>
              <a:rPr lang="ko-KR" altLang="en-US" sz="1300" b="1">
                <a:solidFill>
                  <a:schemeClr val="bg1"/>
                </a:solidFill>
              </a:rPr>
              <a:t>회원목록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5" name="직사각형 14"/>
          <p:cNvSpPr/>
          <p:nvPr/>
        </p:nvSpPr>
        <p:spPr>
          <a:xfrm>
            <a:off x="-1690439" y="167710"/>
            <a:ext cx="1509964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회원 상세 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5790" y="917348"/>
            <a:ext cx="1275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100" b="1"/>
              <a:t>  </a:t>
            </a:r>
            <a:r>
              <a:rPr lang="ko-KR" altLang="en-US" sz="1600" b="1"/>
              <a:t>회원상세</a:t>
            </a:r>
          </a:p>
        </p:txBody>
      </p:sp>
      <p:sp>
        <p:nvSpPr>
          <p:cNvPr id="17" name="타원 16"/>
          <p:cNvSpPr/>
          <p:nvPr/>
        </p:nvSpPr>
        <p:spPr>
          <a:xfrm>
            <a:off x="3783930" y="1541466"/>
            <a:ext cx="842211" cy="7792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프로필 사진</a:t>
            </a: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87423"/>
              </p:ext>
            </p:extLst>
          </p:nvPr>
        </p:nvGraphicFramePr>
        <p:xfrm>
          <a:off x="1732549" y="2717042"/>
          <a:ext cx="506500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685">
                  <a:extLst>
                    <a:ext uri="{9D8B030D-6E8A-4147-A177-3AD203B41FA5}">
                      <a16:colId xmlns:a16="http://schemas.microsoft.com/office/drawing/2014/main" val="3306466590"/>
                    </a:ext>
                  </a:extLst>
                </a:gridCol>
                <a:gridCol w="720766">
                  <a:extLst>
                    <a:ext uri="{9D8B030D-6E8A-4147-A177-3AD203B41FA5}">
                      <a16:colId xmlns:a16="http://schemas.microsoft.com/office/drawing/2014/main" val="2302244522"/>
                    </a:ext>
                  </a:extLst>
                </a:gridCol>
                <a:gridCol w="862659">
                  <a:extLst>
                    <a:ext uri="{9D8B030D-6E8A-4147-A177-3AD203B41FA5}">
                      <a16:colId xmlns:a16="http://schemas.microsoft.com/office/drawing/2014/main" val="385311382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3995119649"/>
                    </a:ext>
                  </a:extLst>
                </a:gridCol>
                <a:gridCol w="166806">
                  <a:extLst>
                    <a:ext uri="{9D8B030D-6E8A-4147-A177-3AD203B41FA5}">
                      <a16:colId xmlns:a16="http://schemas.microsoft.com/office/drawing/2014/main" val="2327285102"/>
                    </a:ext>
                  </a:extLst>
                </a:gridCol>
                <a:gridCol w="601676">
                  <a:extLst>
                    <a:ext uri="{9D8B030D-6E8A-4147-A177-3AD203B41FA5}">
                      <a16:colId xmlns:a16="http://schemas.microsoft.com/office/drawing/2014/main" val="2112253462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1859684112"/>
                    </a:ext>
                  </a:extLst>
                </a:gridCol>
                <a:gridCol w="837644">
                  <a:extLst>
                    <a:ext uri="{9D8B030D-6E8A-4147-A177-3AD203B41FA5}">
                      <a16:colId xmlns:a16="http://schemas.microsoft.com/office/drawing/2014/main" val="1527494597"/>
                    </a:ext>
                  </a:extLst>
                </a:gridCol>
                <a:gridCol w="752093">
                  <a:extLst>
                    <a:ext uri="{9D8B030D-6E8A-4147-A177-3AD203B41FA5}">
                      <a16:colId xmlns:a16="http://schemas.microsoft.com/office/drawing/2014/main" val="440885063"/>
                    </a:ext>
                  </a:extLst>
                </a:gridCol>
              </a:tblGrid>
              <a:tr h="178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이름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0421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전화번호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000-0000-0000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346946"/>
                  </a:ext>
                </a:extLst>
              </a:tr>
              <a:tr h="1912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권한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user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012176"/>
                  </a:ext>
                </a:extLst>
              </a:tr>
              <a:tr h="2145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gildong@mail.com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626"/>
                  </a:ext>
                </a:extLst>
              </a:tr>
              <a:tr h="1459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프로필 경로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???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65360"/>
                  </a:ext>
                </a:extLst>
              </a:tr>
              <a:tr h="3643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가입일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2025-08-11</a:t>
                      </a:r>
                      <a:r>
                        <a:rPr lang="en-US" altLang="ko-KR" sz="900" baseline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15:00:54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마지막 접속일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2025-12-10</a:t>
                      </a:r>
                    </a:p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17:04:25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마지막 수정일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2025-11-12</a:t>
                      </a:r>
                    </a:p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10:24:02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53588"/>
                  </a:ext>
                </a:extLst>
              </a:tr>
              <a:tr h="175513">
                <a:tc gridSpan="3"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sng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작성한 리뷰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sng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작성한 문의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710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89424"/>
                  </a:ext>
                </a:extLst>
              </a:tr>
            </a:tbl>
          </a:graphicData>
        </a:graphic>
      </p:graphicFrame>
      <p:sp>
        <p:nvSpPr>
          <p:cNvPr id="23" name="모서리가 둥근 직사각형 22"/>
          <p:cNvSpPr/>
          <p:nvPr/>
        </p:nvSpPr>
        <p:spPr>
          <a:xfrm>
            <a:off x="5719859" y="2980188"/>
            <a:ext cx="409574" cy="1619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정상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208295" y="4792064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</a:rPr>
              <a:t>수정</a:t>
            </a: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185862" y="4197227"/>
            <a:ext cx="85725" cy="669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0352" y="4953728"/>
            <a:ext cx="1679832" cy="418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‘</a:t>
            </a:r>
            <a:r>
              <a:rPr lang="ko-KR" altLang="en-US"/>
              <a:t>리뷰목록</a:t>
            </a:r>
            <a:r>
              <a:rPr lang="en-US" altLang="ko-KR"/>
              <a:t>’ </a:t>
            </a:r>
            <a:r>
              <a:rPr lang="ko-KR" altLang="en-US"/>
              <a:t>페이지에서 </a:t>
            </a:r>
            <a:endParaRPr lang="en-US" altLang="ko-KR"/>
          </a:p>
          <a:p>
            <a:r>
              <a:rPr lang="ko-KR" altLang="en-US"/>
              <a:t>이 회원의 리뷰만 보여짐</a:t>
            </a:r>
            <a:endParaRPr lang="en-US" altLang="ko-KR"/>
          </a:p>
        </p:txBody>
      </p:sp>
      <p:cxnSp>
        <p:nvCxnSpPr>
          <p:cNvPr id="20" name="직선 화살표 연결선 19"/>
          <p:cNvCxnSpPr/>
          <p:nvPr/>
        </p:nvCxnSpPr>
        <p:spPr>
          <a:xfrm flipH="1">
            <a:off x="5267325" y="4197227"/>
            <a:ext cx="80964" cy="669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11412" y="4953728"/>
            <a:ext cx="1679832" cy="418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‘</a:t>
            </a:r>
            <a:r>
              <a:rPr lang="ko-KR" altLang="en-US"/>
              <a:t>회원문의</a:t>
            </a:r>
            <a:r>
              <a:rPr lang="en-US" altLang="ko-KR"/>
              <a:t>’ </a:t>
            </a:r>
            <a:r>
              <a:rPr lang="ko-KR" altLang="en-US"/>
              <a:t>페이지에서 </a:t>
            </a:r>
            <a:endParaRPr lang="en-US" altLang="ko-KR"/>
          </a:p>
          <a:p>
            <a:r>
              <a:rPr lang="ko-KR" altLang="en-US"/>
              <a:t>이 회원의 문의만 보여짐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2304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163322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 - </a:t>
            </a:r>
            <a:r>
              <a:rPr lang="ko-KR" altLang="en-US" sz="1300" b="1">
                <a:solidFill>
                  <a:schemeClr val="bg1"/>
                </a:solidFill>
              </a:rPr>
              <a:t>회원목록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7" name="타원 16"/>
          <p:cNvSpPr/>
          <p:nvPr/>
        </p:nvSpPr>
        <p:spPr>
          <a:xfrm>
            <a:off x="3783930" y="1541466"/>
            <a:ext cx="842211" cy="7792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프로필 사진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291979"/>
              </p:ext>
            </p:extLst>
          </p:nvPr>
        </p:nvGraphicFramePr>
        <p:xfrm>
          <a:off x="1732549" y="2717042"/>
          <a:ext cx="506500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685">
                  <a:extLst>
                    <a:ext uri="{9D8B030D-6E8A-4147-A177-3AD203B41FA5}">
                      <a16:colId xmlns:a16="http://schemas.microsoft.com/office/drawing/2014/main" val="3306466590"/>
                    </a:ext>
                  </a:extLst>
                </a:gridCol>
                <a:gridCol w="720766">
                  <a:extLst>
                    <a:ext uri="{9D8B030D-6E8A-4147-A177-3AD203B41FA5}">
                      <a16:colId xmlns:a16="http://schemas.microsoft.com/office/drawing/2014/main" val="2302244522"/>
                    </a:ext>
                  </a:extLst>
                </a:gridCol>
                <a:gridCol w="862659">
                  <a:extLst>
                    <a:ext uri="{9D8B030D-6E8A-4147-A177-3AD203B41FA5}">
                      <a16:colId xmlns:a16="http://schemas.microsoft.com/office/drawing/2014/main" val="385311382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180397827"/>
                    </a:ext>
                  </a:extLst>
                </a:gridCol>
                <a:gridCol w="166806">
                  <a:extLst>
                    <a:ext uri="{9D8B030D-6E8A-4147-A177-3AD203B41FA5}">
                      <a16:colId xmlns:a16="http://schemas.microsoft.com/office/drawing/2014/main" val="2327285102"/>
                    </a:ext>
                  </a:extLst>
                </a:gridCol>
                <a:gridCol w="601676">
                  <a:extLst>
                    <a:ext uri="{9D8B030D-6E8A-4147-A177-3AD203B41FA5}">
                      <a16:colId xmlns:a16="http://schemas.microsoft.com/office/drawing/2014/main" val="2112253462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1859684112"/>
                    </a:ext>
                  </a:extLst>
                </a:gridCol>
                <a:gridCol w="837644">
                  <a:extLst>
                    <a:ext uri="{9D8B030D-6E8A-4147-A177-3AD203B41FA5}">
                      <a16:colId xmlns:a16="http://schemas.microsoft.com/office/drawing/2014/main" val="1527494597"/>
                    </a:ext>
                  </a:extLst>
                </a:gridCol>
                <a:gridCol w="752093">
                  <a:extLst>
                    <a:ext uri="{9D8B030D-6E8A-4147-A177-3AD203B41FA5}">
                      <a16:colId xmlns:a16="http://schemas.microsoft.com/office/drawing/2014/main" val="440885063"/>
                    </a:ext>
                  </a:extLst>
                </a:gridCol>
              </a:tblGrid>
              <a:tr h="178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이름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0421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전화번호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000-0000-0000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346946"/>
                  </a:ext>
                </a:extLst>
              </a:tr>
              <a:tr h="2166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권한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user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012176"/>
                  </a:ext>
                </a:extLst>
              </a:tr>
              <a:tr h="2145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gildong@mail.com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626"/>
                  </a:ext>
                </a:extLst>
              </a:tr>
              <a:tr h="1459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프로필 경로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???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65360"/>
                  </a:ext>
                </a:extLst>
              </a:tr>
              <a:tr h="290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가입일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2025-08-11</a:t>
                      </a:r>
                      <a:r>
                        <a:rPr lang="en-US" altLang="ko-KR" sz="900" baseline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15:00:54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마지막 접속일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2025-12-10</a:t>
                      </a:r>
                    </a:p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17:04:25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마지막 수정일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2025-11-12</a:t>
                      </a:r>
                    </a:p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10:24:02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53588"/>
                  </a:ext>
                </a:extLst>
              </a:tr>
              <a:tr h="175513">
                <a:tc gridSpan="3"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sng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작성한 리뷰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sng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작성한 문의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710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89424"/>
                  </a:ext>
                </a:extLst>
              </a:tr>
            </a:tbl>
          </a:graphicData>
        </a:graphic>
      </p:graphicFrame>
      <p:sp>
        <p:nvSpPr>
          <p:cNvPr id="19" name="모서리가 둥근 직사각형 18"/>
          <p:cNvSpPr/>
          <p:nvPr/>
        </p:nvSpPr>
        <p:spPr>
          <a:xfrm>
            <a:off x="5719859" y="2980188"/>
            <a:ext cx="409574" cy="1619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정상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-2105526" y="167710"/>
            <a:ext cx="1925051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회원 상세 수정 페이지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100" b="1"/>
              <a:t>  </a:t>
            </a:r>
            <a:r>
              <a:rPr lang="ko-KR" altLang="en-US" sz="1600" b="1"/>
              <a:t>회원상세</a:t>
            </a:r>
            <a:r>
              <a:rPr lang="en-US" altLang="ko-KR" sz="1600" b="1"/>
              <a:t>(</a:t>
            </a:r>
            <a:r>
              <a:rPr lang="ko-KR" altLang="en-US" sz="1600" b="1"/>
              <a:t>수정</a:t>
            </a:r>
            <a:r>
              <a:rPr lang="en-US" altLang="ko-KR" sz="1600" b="1"/>
              <a:t>)</a:t>
            </a:r>
            <a:endParaRPr lang="ko-KR" altLang="en-US" sz="1600" b="1"/>
          </a:p>
        </p:txBody>
      </p:sp>
      <p:sp>
        <p:nvSpPr>
          <p:cNvPr id="24" name="직사각형 23"/>
          <p:cNvSpPr/>
          <p:nvPr/>
        </p:nvSpPr>
        <p:spPr>
          <a:xfrm>
            <a:off x="2626225" y="3198794"/>
            <a:ext cx="3901574" cy="160432"/>
          </a:xfrm>
          <a:prstGeom prst="rect">
            <a:avLst/>
          </a:prstGeom>
          <a:noFill/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2">
                    <a:lumMod val="50000"/>
                  </a:schemeClr>
                </a:solidFill>
              </a:ln>
              <a:noFill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626225" y="2972896"/>
            <a:ext cx="1691775" cy="164583"/>
          </a:xfrm>
          <a:prstGeom prst="rect">
            <a:avLst/>
          </a:prstGeom>
          <a:noFill/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2">
                    <a:lumMod val="50000"/>
                  </a:schemeClr>
                </a:solidFill>
              </a:ln>
              <a:noFill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626225" y="2744489"/>
            <a:ext cx="1691775" cy="164583"/>
          </a:xfrm>
          <a:prstGeom prst="rect">
            <a:avLst/>
          </a:prstGeom>
          <a:noFill/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2">
                    <a:lumMod val="50000"/>
                  </a:schemeClr>
                </a:solidFill>
              </a:ln>
              <a:noFill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332326" y="2746342"/>
            <a:ext cx="1199149" cy="164583"/>
          </a:xfrm>
          <a:prstGeom prst="rect">
            <a:avLst/>
          </a:prstGeom>
          <a:noFill/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2">
                    <a:lumMod val="50000"/>
                  </a:schemeClr>
                </a:solidFill>
              </a:ln>
              <a:noFill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626225" y="3432968"/>
            <a:ext cx="3905250" cy="164583"/>
          </a:xfrm>
          <a:prstGeom prst="rect">
            <a:avLst/>
          </a:prstGeom>
          <a:noFill/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2">
                    <a:lumMod val="50000"/>
                  </a:schemeClr>
                </a:solidFill>
              </a:ln>
              <a:noFill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208295" y="4792064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624107" y="4792064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</a:rPr>
              <a:t>적용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5332326" y="2972895"/>
            <a:ext cx="1199149" cy="164583"/>
          </a:xfrm>
          <a:prstGeom prst="rect">
            <a:avLst/>
          </a:prstGeom>
          <a:noFill/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2">
                    <a:lumMod val="50000"/>
                  </a:schemeClr>
                </a:solidFill>
              </a:ln>
              <a:noFill/>
            </a:endParaRPr>
          </a:p>
        </p:txBody>
      </p:sp>
      <p:cxnSp>
        <p:nvCxnSpPr>
          <p:cNvPr id="23" name="직선 화살표 연결선 22"/>
          <p:cNvCxnSpPr>
            <a:cxnSpLocks/>
            <a:stCxn id="22" idx="2"/>
            <a:endCxn id="33" idx="0"/>
          </p:cNvCxnSpPr>
          <p:nvPr/>
        </p:nvCxnSpPr>
        <p:spPr>
          <a:xfrm>
            <a:off x="5931901" y="3137478"/>
            <a:ext cx="66805" cy="2269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6284495" y="2956210"/>
            <a:ext cx="27057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▼</a:t>
            </a:r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5469612" y="5407390"/>
            <a:ext cx="1058187" cy="26355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755819" y="5459302"/>
            <a:ext cx="409574" cy="16192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정상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5469612" y="5670947"/>
            <a:ext cx="1058187" cy="26355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일ㅇ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5469612" y="5934505"/>
            <a:ext cx="1058187" cy="26355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521218" y="5725647"/>
            <a:ext cx="360487" cy="15415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>
                <a:solidFill>
                  <a:schemeClr val="tx2">
                    <a:lumMod val="50000"/>
                  </a:schemeClr>
                </a:solidFill>
              </a:rPr>
              <a:t>30</a:t>
            </a:r>
            <a:r>
              <a:rPr lang="en-US" altLang="ko-KR" sz="800" b="1">
                <a:solidFill>
                  <a:schemeClr val="tx2">
                    <a:lumMod val="50000"/>
                  </a:schemeClr>
                </a:solidFill>
              </a:rPr>
              <a:t>         </a:t>
            </a:r>
            <a:endParaRPr lang="ko-KR" altLang="en-US" sz="800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6019603" y="5721211"/>
            <a:ext cx="409574" cy="1619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정지</a:t>
            </a:r>
          </a:p>
        </p:txBody>
      </p:sp>
      <p:sp>
        <p:nvSpPr>
          <p:cNvPr id="41" name="모서리가 둥근 직사각형 40"/>
          <p:cNvSpPr/>
          <p:nvPr/>
        </p:nvSpPr>
        <p:spPr>
          <a:xfrm>
            <a:off x="5755819" y="5981438"/>
            <a:ext cx="409574" cy="161924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탈퇴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6170136" y="5428153"/>
            <a:ext cx="27057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▼</a:t>
            </a: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655080" y="5695004"/>
            <a:ext cx="27057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▼</a:t>
            </a:r>
            <a:endParaRPr lang="ko-KR" altLang="en-US"/>
          </a:p>
        </p:txBody>
      </p:sp>
      <p:cxnSp>
        <p:nvCxnSpPr>
          <p:cNvPr id="35" name="직선 화살표 연결선 34"/>
          <p:cNvCxnSpPr>
            <a:cxnSpLocks/>
          </p:cNvCxnSpPr>
          <p:nvPr/>
        </p:nvCxnSpPr>
        <p:spPr>
          <a:xfrm>
            <a:off x="5669425" y="5873000"/>
            <a:ext cx="136680" cy="67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5653685" y="6594584"/>
            <a:ext cx="360487" cy="15415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>
                <a:solidFill>
                  <a:schemeClr val="tx2">
                    <a:lumMod val="50000"/>
                  </a:schemeClr>
                </a:solidFill>
              </a:rPr>
              <a:t>30</a:t>
            </a:r>
            <a:r>
              <a:rPr lang="en-US" altLang="ko-KR" sz="800" b="1">
                <a:solidFill>
                  <a:schemeClr val="tx2">
                    <a:lumMod val="50000"/>
                  </a:schemeClr>
                </a:solidFill>
              </a:rPr>
              <a:t>         </a:t>
            </a:r>
            <a:endParaRPr lang="ko-KR" altLang="en-US" sz="800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787546" y="6563941"/>
            <a:ext cx="27057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▼</a:t>
            </a:r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5653685" y="6747102"/>
            <a:ext cx="360487" cy="15415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>
                <a:solidFill>
                  <a:schemeClr val="tx2">
                    <a:lumMod val="50000"/>
                  </a:schemeClr>
                </a:solidFill>
              </a:rPr>
              <a:t>14</a:t>
            </a:r>
            <a:r>
              <a:rPr lang="en-US" altLang="ko-KR" sz="800" b="1">
                <a:solidFill>
                  <a:schemeClr val="tx2">
                    <a:lumMod val="50000"/>
                  </a:schemeClr>
                </a:solidFill>
              </a:rPr>
              <a:t>         </a:t>
            </a:r>
            <a:endParaRPr lang="ko-KR" altLang="en-US" sz="800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5653685" y="6899620"/>
            <a:ext cx="360487" cy="15415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>
                <a:solidFill>
                  <a:schemeClr val="tx2">
                    <a:lumMod val="50000"/>
                  </a:schemeClr>
                </a:solidFill>
              </a:rPr>
              <a:t> 7</a:t>
            </a:r>
            <a:r>
              <a:rPr lang="en-US" altLang="ko-KR" sz="800" b="1">
                <a:solidFill>
                  <a:schemeClr val="tx2">
                    <a:lumMod val="50000"/>
                  </a:schemeClr>
                </a:solidFill>
              </a:rPr>
              <a:t>         </a:t>
            </a:r>
            <a:endParaRPr lang="ko-KR" altLang="en-US" sz="800" b="1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34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194604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 - </a:t>
            </a:r>
            <a:r>
              <a:rPr lang="ko-KR" altLang="en-US" sz="1300" b="1">
                <a:solidFill>
                  <a:schemeClr val="bg1"/>
                </a:solidFill>
              </a:rPr>
              <a:t>회원문의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5" name="직사각형 14"/>
          <p:cNvSpPr/>
          <p:nvPr/>
        </p:nvSpPr>
        <p:spPr>
          <a:xfrm>
            <a:off x="-1696453" y="167710"/>
            <a:ext cx="1515978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문의 목록 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문의목록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928057" y="1464850"/>
            <a:ext cx="3997493" cy="2776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925550" y="1464850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검색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429614"/>
              </p:ext>
            </p:extLst>
          </p:nvPr>
        </p:nvGraphicFramePr>
        <p:xfrm>
          <a:off x="1971675" y="2439128"/>
          <a:ext cx="4466721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676537834"/>
                    </a:ext>
                  </a:extLst>
                </a:gridCol>
                <a:gridCol w="681388">
                  <a:extLst>
                    <a:ext uri="{9D8B030D-6E8A-4147-A177-3AD203B41FA5}">
                      <a16:colId xmlns:a16="http://schemas.microsoft.com/office/drawing/2014/main" val="989386938"/>
                    </a:ext>
                  </a:extLst>
                </a:gridCol>
                <a:gridCol w="644492">
                  <a:extLst>
                    <a:ext uri="{9D8B030D-6E8A-4147-A177-3AD203B41FA5}">
                      <a16:colId xmlns:a16="http://schemas.microsoft.com/office/drawing/2014/main" val="264511323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855507723"/>
                    </a:ext>
                  </a:extLst>
                </a:gridCol>
                <a:gridCol w="328462">
                  <a:extLst>
                    <a:ext uri="{9D8B030D-6E8A-4147-A177-3AD203B41FA5}">
                      <a16:colId xmlns:a16="http://schemas.microsoft.com/office/drawing/2014/main" val="1672635782"/>
                    </a:ext>
                  </a:extLst>
                </a:gridCol>
                <a:gridCol w="733926">
                  <a:extLst>
                    <a:ext uri="{9D8B030D-6E8A-4147-A177-3AD203B41FA5}">
                      <a16:colId xmlns:a16="http://schemas.microsoft.com/office/drawing/2014/main" val="634918157"/>
                    </a:ext>
                  </a:extLst>
                </a:gridCol>
                <a:gridCol w="735428">
                  <a:extLst>
                    <a:ext uri="{9D8B030D-6E8A-4147-A177-3AD203B41FA5}">
                      <a16:colId xmlns:a16="http://schemas.microsoft.com/office/drawing/2014/main" val="729826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분류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작성자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답변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작성일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답변일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888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일반문의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0193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제가 썼던 리뷰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2025-12-10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922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19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제보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0123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식당 사진이 다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2025-12-10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36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일반문의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0492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비밀번호 바꾸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2025-12-08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40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17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제보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4621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메뉴가 바뀌었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2025-12-08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70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제보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9420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식당이 폐업한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Y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2025-12-06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2025-12-08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63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제보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3920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메뉴가 달라서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Y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2025-12-02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2025-12-06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891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14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제보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9203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사진이 달라서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Y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2025-12-01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2025-12-01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006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13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일반문의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1346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검색 태그에 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2025-12-01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77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일반문의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4591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검색을 이 키워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Y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2025-09-30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2025-09-30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84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11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제보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3492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리뷰가 다 거짓</a:t>
                      </a:r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Y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2025-08-19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2025-08-20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24873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696616"/>
              </p:ext>
            </p:extLst>
          </p:nvPr>
        </p:nvGraphicFramePr>
        <p:xfrm>
          <a:off x="3429000" y="5187143"/>
          <a:ext cx="145796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7219729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582776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30601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72996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266059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93939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08232035"/>
                    </a:ext>
                  </a:extLst>
                </a:gridCol>
              </a:tblGrid>
              <a:tr h="1371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&lt;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700" b="1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&gt;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2917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94746" y="1791263"/>
            <a:ext cx="2473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문의종류 </a:t>
            </a:r>
            <a:r>
              <a:rPr lang="en-US" altLang="ko-KR" sz="900"/>
              <a:t>|    o </a:t>
            </a:r>
            <a:r>
              <a:rPr lang="ko-KR" altLang="en-US" sz="900"/>
              <a:t>전체보기   </a:t>
            </a:r>
            <a:r>
              <a:rPr lang="en-US" altLang="ko-KR" sz="900"/>
              <a:t>o </a:t>
            </a:r>
            <a:r>
              <a:rPr lang="ko-KR" altLang="en-US" sz="900"/>
              <a:t>일반문의   </a:t>
            </a:r>
            <a:r>
              <a:rPr lang="en-US" altLang="ko-KR" sz="900"/>
              <a:t>o </a:t>
            </a:r>
            <a:r>
              <a:rPr lang="ko-KR" altLang="en-US" sz="900"/>
              <a:t>제보</a:t>
            </a:r>
            <a:endParaRPr lang="en-US" altLang="ko-KR" sz="900"/>
          </a:p>
          <a:p>
            <a:r>
              <a:rPr lang="ko-KR" altLang="en-US" sz="900"/>
              <a:t>답변여부 </a:t>
            </a:r>
            <a:r>
              <a:rPr lang="en-US" altLang="ko-KR" sz="900"/>
              <a:t>|    o </a:t>
            </a:r>
            <a:r>
              <a:rPr lang="ko-KR" altLang="en-US" sz="900"/>
              <a:t>전체보기   </a:t>
            </a:r>
            <a:r>
              <a:rPr lang="en-US" altLang="ko-KR" sz="900"/>
              <a:t>o </a:t>
            </a:r>
            <a:r>
              <a:rPr lang="ko-KR" altLang="en-US" sz="900"/>
              <a:t>미답변    </a:t>
            </a:r>
            <a:r>
              <a:rPr lang="ko-KR" altLang="en-US" sz="800"/>
              <a:t> </a:t>
            </a:r>
            <a:r>
              <a:rPr lang="ko-KR" altLang="en-US" sz="900"/>
              <a:t> </a:t>
            </a:r>
            <a:r>
              <a:rPr lang="ko-KR" altLang="en-US" sz="700"/>
              <a:t>  </a:t>
            </a:r>
            <a:r>
              <a:rPr lang="en-US" altLang="ko-KR" sz="900"/>
              <a:t>o </a:t>
            </a:r>
            <a:r>
              <a:rPr lang="ko-KR" altLang="en-US" sz="900"/>
              <a:t>완료</a:t>
            </a:r>
          </a:p>
        </p:txBody>
      </p:sp>
      <p:sp>
        <p:nvSpPr>
          <p:cNvPr id="10" name="타원 9"/>
          <p:cNvSpPr/>
          <p:nvPr/>
        </p:nvSpPr>
        <p:spPr>
          <a:xfrm>
            <a:off x="4826955" y="189365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4831717" y="2028040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19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194604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 - </a:t>
            </a:r>
            <a:r>
              <a:rPr lang="ko-KR" altLang="en-US" sz="1300" b="1">
                <a:solidFill>
                  <a:schemeClr val="bg1"/>
                </a:solidFill>
              </a:rPr>
              <a:t>회원문의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■</a:t>
            </a:r>
            <a:r>
              <a:rPr lang="ko-KR" altLang="en-US" sz="1600" b="1" dirty="0"/>
              <a:t> 문의상세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-1696453" y="167710"/>
            <a:ext cx="1515978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문의 상세 페이지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695391"/>
              </p:ext>
            </p:extLst>
          </p:nvPr>
        </p:nvGraphicFramePr>
        <p:xfrm>
          <a:off x="1959392" y="1437730"/>
          <a:ext cx="4491288" cy="262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822">
                  <a:extLst>
                    <a:ext uri="{9D8B030D-6E8A-4147-A177-3AD203B41FA5}">
                      <a16:colId xmlns:a16="http://schemas.microsoft.com/office/drawing/2014/main" val="1252955518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2552414092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3872182592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370862865"/>
                    </a:ext>
                  </a:extLst>
                </a:gridCol>
              </a:tblGrid>
              <a:tr h="270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문의제목</a:t>
                      </a:r>
                      <a:endParaRPr lang="en-US" altLang="ko-KR" sz="9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ysClr val="windowText" lastClr="000000"/>
                          </a:solidFill>
                        </a:rPr>
                        <a:t>식당 사진이 다른 것 같아요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71323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ysClr val="windowText" lastClr="000000"/>
                          </a:solidFill>
                        </a:rPr>
                        <a:t>먹보</a:t>
                      </a:r>
                      <a:r>
                        <a:rPr lang="en-US" altLang="ko-KR" sz="900" smtClean="0">
                          <a:solidFill>
                            <a:sysClr val="windowText" lastClr="000000"/>
                          </a:solidFill>
                        </a:rPr>
                        <a:t>7492</a:t>
                      </a:r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ysClr val="windowText" lastClr="000000"/>
                          </a:solidFill>
                        </a:rPr>
                        <a:t>2025-12-10</a:t>
                      </a:r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92521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문의분류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ysClr val="windowText" lastClr="000000"/>
                          </a:solidFill>
                        </a:rPr>
                        <a:t>일반문의</a:t>
                      </a:r>
                      <a:endParaRPr lang="en-US" altLang="ko-KR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944735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문의내용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ysClr val="windowText" lastClr="000000"/>
                          </a:solidFill>
                        </a:rPr>
                        <a:t>김가네 용인 신갈점 식당 사진이 현재 식당과 달라서 찾을 때 헷갈릴 것 같아요</a:t>
                      </a:r>
                      <a:r>
                        <a:rPr lang="en-US" altLang="ko-KR" sz="9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900">
                          <a:solidFill>
                            <a:sysClr val="windowText" lastClr="000000"/>
                          </a:solidFill>
                        </a:rPr>
                        <a:t>최근 사진 보내드립니다</a:t>
                      </a:r>
                      <a:r>
                        <a:rPr lang="en-US" altLang="ko-KR" sz="9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7099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첨부파일</a:t>
                      </a:r>
                      <a:r>
                        <a:rPr lang="en-US" altLang="ko-KR" sz="900" b="1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9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900" smtClean="0">
                          <a:solidFill>
                            <a:sysClr val="windowText" lastClr="000000"/>
                          </a:solidFill>
                        </a:rPr>
                        <a:t>Image2025100001.jpg</a:t>
                      </a:r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59933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첨부파일</a:t>
                      </a:r>
                      <a:r>
                        <a:rPr lang="en-US" altLang="ko-KR" sz="900" b="1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sz="9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81918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첨부파일</a:t>
                      </a:r>
                      <a:r>
                        <a:rPr lang="en-US" altLang="ko-KR" sz="900" b="1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9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06711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264431"/>
              </p:ext>
            </p:extLst>
          </p:nvPr>
        </p:nvGraphicFramePr>
        <p:xfrm>
          <a:off x="1959392" y="4691580"/>
          <a:ext cx="4491288" cy="1317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708">
                  <a:extLst>
                    <a:ext uri="{9D8B030D-6E8A-4147-A177-3AD203B41FA5}">
                      <a16:colId xmlns:a16="http://schemas.microsoft.com/office/drawing/2014/main" val="2336316312"/>
                    </a:ext>
                  </a:extLst>
                </a:gridCol>
                <a:gridCol w="3364580">
                  <a:extLst>
                    <a:ext uri="{9D8B030D-6E8A-4147-A177-3AD203B41FA5}">
                      <a16:colId xmlns:a16="http://schemas.microsoft.com/office/drawing/2014/main" val="3857602015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답변자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admin01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85442"/>
                  </a:ext>
                </a:extLst>
              </a:tr>
              <a:tr h="1088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답변내용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833828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5657850" y="3257550"/>
            <a:ext cx="754729" cy="2000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다운로드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657850" y="3540165"/>
            <a:ext cx="754729" cy="2000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다운로드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5657850" y="3816912"/>
            <a:ext cx="754729" cy="2000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다운로드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695951" y="6133850"/>
            <a:ext cx="754729" cy="2000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답변 저장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873165" y="6133850"/>
            <a:ext cx="754729" cy="2000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뒤로가기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3024BB-EDB2-50A7-D51E-19FAF5685702}"/>
              </a:ext>
            </a:extLst>
          </p:cNvPr>
          <p:cNvSpPr txBox="1"/>
          <p:nvPr/>
        </p:nvSpPr>
        <p:spPr>
          <a:xfrm>
            <a:off x="1825789" y="4242939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■</a:t>
            </a:r>
            <a:r>
              <a:rPr lang="ko-KR" altLang="en-US" sz="1600" b="1" dirty="0"/>
              <a:t> 문의답변</a:t>
            </a:r>
          </a:p>
        </p:txBody>
      </p:sp>
    </p:spTree>
    <p:extLst>
      <p:ext uri="{BB962C8B-B14F-4D97-AF65-F5344CB8AC3E}">
        <p14:creationId xmlns:p14="http://schemas.microsoft.com/office/powerpoint/2010/main" val="174288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194604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 - </a:t>
            </a:r>
            <a:r>
              <a:rPr lang="ko-KR" altLang="en-US" sz="1300" b="1">
                <a:solidFill>
                  <a:schemeClr val="bg1"/>
                </a:solidFill>
              </a:rPr>
              <a:t>회원문의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smtClean="0"/>
              <a:t>ㅁ</a:t>
            </a:r>
            <a:endParaRPr lang="ko-KR" altLang="en-US" sz="18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■</a:t>
            </a:r>
            <a:r>
              <a:rPr lang="ko-KR" altLang="en-US" sz="1600" b="1" dirty="0"/>
              <a:t> 문의상세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-1696453" y="167710"/>
            <a:ext cx="1515978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문의 상세 페이지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156679"/>
              </p:ext>
            </p:extLst>
          </p:nvPr>
        </p:nvGraphicFramePr>
        <p:xfrm>
          <a:off x="1959392" y="1437732"/>
          <a:ext cx="4491288" cy="3045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822">
                  <a:extLst>
                    <a:ext uri="{9D8B030D-6E8A-4147-A177-3AD203B41FA5}">
                      <a16:colId xmlns:a16="http://schemas.microsoft.com/office/drawing/2014/main" val="1252955518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2552414092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3872182592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370862865"/>
                    </a:ext>
                  </a:extLst>
                </a:gridCol>
              </a:tblGrid>
              <a:tr h="121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문의제목</a:t>
                      </a:r>
                      <a:endParaRPr lang="en-US" altLang="ko-KR" sz="9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ysClr val="windowText" lastClr="000000"/>
                          </a:solidFill>
                        </a:rPr>
                        <a:t>식당 사진이 다른 것 같아요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713238"/>
                  </a:ext>
                </a:extLst>
              </a:tr>
              <a:tr h="121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ysClr val="windowText" lastClr="000000"/>
                          </a:solidFill>
                        </a:rPr>
                        <a:t>먹보</a:t>
                      </a:r>
                      <a:r>
                        <a:rPr lang="en-US" altLang="ko-KR" sz="900" smtClean="0">
                          <a:solidFill>
                            <a:sysClr val="windowText" lastClr="000000"/>
                          </a:solidFill>
                        </a:rPr>
                        <a:t>7492</a:t>
                      </a:r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ysClr val="windowText" lastClr="000000"/>
                          </a:solidFill>
                        </a:rPr>
                        <a:t>2025-12-10</a:t>
                      </a:r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925218"/>
                  </a:ext>
                </a:extLst>
              </a:tr>
              <a:tr h="121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문의분류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ysClr val="windowText" lastClr="000000"/>
                          </a:solidFill>
                        </a:rPr>
                        <a:t>일반문의</a:t>
                      </a:r>
                      <a:endParaRPr lang="en-US" altLang="ko-KR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944735"/>
                  </a:ext>
                </a:extLst>
              </a:tr>
              <a:tr h="1089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ysClr val="windowText" lastClr="000000"/>
                          </a:solidFill>
                        </a:rPr>
                        <a:t>문의내용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>
                          <a:solidFill>
                            <a:sysClr val="windowText" lastClr="000000"/>
                          </a:solidFill>
                        </a:rPr>
                        <a:t>김가네 용인 신갈점 식당 사진이 현재 식당과 달라서 찾을 때 헷갈릴 것 같아요</a:t>
                      </a:r>
                      <a:r>
                        <a:rPr lang="en-US" altLang="ko-KR" sz="9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900">
                          <a:solidFill>
                            <a:sysClr val="windowText" lastClr="000000"/>
                          </a:solidFill>
                        </a:rPr>
                        <a:t>최근 사진 보내드립니다</a:t>
                      </a:r>
                      <a:r>
                        <a:rPr lang="en-US" altLang="ko-KR" sz="9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70993"/>
                  </a:ext>
                </a:extLst>
              </a:tr>
              <a:tr h="1270000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9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599332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107090"/>
              </p:ext>
            </p:extLst>
          </p:nvPr>
        </p:nvGraphicFramePr>
        <p:xfrm>
          <a:off x="1959392" y="5224980"/>
          <a:ext cx="4491288" cy="1317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708">
                  <a:extLst>
                    <a:ext uri="{9D8B030D-6E8A-4147-A177-3AD203B41FA5}">
                      <a16:colId xmlns:a16="http://schemas.microsoft.com/office/drawing/2014/main" val="2336316312"/>
                    </a:ext>
                  </a:extLst>
                </a:gridCol>
                <a:gridCol w="3364580">
                  <a:extLst>
                    <a:ext uri="{9D8B030D-6E8A-4147-A177-3AD203B41FA5}">
                      <a16:colId xmlns:a16="http://schemas.microsoft.com/office/drawing/2014/main" val="3857602015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답변자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Admin01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85442"/>
                  </a:ext>
                </a:extLst>
              </a:tr>
              <a:tr h="1088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답변내용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833828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5695951" y="6667250"/>
            <a:ext cx="754729" cy="2000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답변 저장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873165" y="6667250"/>
            <a:ext cx="754729" cy="2000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뒤로가기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3024BB-EDB2-50A7-D51E-19FAF5685702}"/>
              </a:ext>
            </a:extLst>
          </p:cNvPr>
          <p:cNvSpPr txBox="1"/>
          <p:nvPr/>
        </p:nvSpPr>
        <p:spPr>
          <a:xfrm>
            <a:off x="1825789" y="4776339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■</a:t>
            </a:r>
            <a:r>
              <a:rPr lang="ko-KR" altLang="en-US" sz="1600" b="1" dirty="0"/>
              <a:t> 문의답변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414251" y="3286823"/>
            <a:ext cx="1002348" cy="952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2">
                    <a:lumMod val="50000"/>
                  </a:schemeClr>
                </a:solidFill>
              </a:rPr>
              <a:t>첨부파일</a:t>
            </a:r>
            <a:r>
              <a:rPr lang="en-US" altLang="ko-KR" sz="900" smtClean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9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720518" y="3286822"/>
            <a:ext cx="985837" cy="952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2">
                    <a:lumMod val="50000"/>
                  </a:schemeClr>
                </a:solidFill>
              </a:rPr>
              <a:t>첨부파일</a:t>
            </a:r>
            <a:r>
              <a:rPr lang="en-US" altLang="ko-KR" sz="900">
                <a:solidFill>
                  <a:schemeClr val="tx2">
                    <a:lumMod val="50000"/>
                  </a:schemeClr>
                </a:solidFill>
              </a:rPr>
              <a:t>2</a:t>
            </a:r>
            <a:endParaRPr lang="ko-KR" altLang="en-US" sz="9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984588" y="3286823"/>
            <a:ext cx="985837" cy="952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2">
                    <a:lumMod val="50000"/>
                  </a:schemeClr>
                </a:solidFill>
              </a:rPr>
              <a:t>첨부파일</a:t>
            </a:r>
            <a:r>
              <a:rPr lang="en-US" altLang="ko-KR" sz="900">
                <a:solidFill>
                  <a:schemeClr val="tx2">
                    <a:lumMod val="50000"/>
                  </a:schemeClr>
                </a:solidFill>
              </a:rPr>
              <a:t>3</a:t>
            </a:r>
            <a:endParaRPr lang="ko-KR" altLang="en-US" sz="90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026" name="Picture 2" descr="기호 다운로드 아이콘 |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554" y="3322320"/>
            <a:ext cx="120490" cy="12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기호 다운로드 아이콘 |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342" y="3322320"/>
            <a:ext cx="120490" cy="12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기호 다운로드 아이콘 |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761" y="3322320"/>
            <a:ext cx="120490" cy="12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354425" y="4215665"/>
            <a:ext cx="37012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mtClean="0">
                <a:solidFill>
                  <a:sysClr val="windowText" lastClr="000000"/>
                </a:solidFill>
              </a:rPr>
              <a:t>image2025100001.jpg                  image2025100002.jpg                image2025100003.jpg           </a:t>
            </a:r>
            <a:endParaRPr lang="ko-KR" altLang="en-US" sz="8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12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265590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가게목록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직사각형 13"/>
          <p:cNvSpPr/>
          <p:nvPr/>
        </p:nvSpPr>
        <p:spPr>
          <a:xfrm>
            <a:off x="-1696453" y="167710"/>
            <a:ext cx="1515978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가게 목록 페이지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가게목록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928057" y="1464850"/>
            <a:ext cx="3997493" cy="2776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925550" y="1464850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검색</a:t>
            </a: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045438"/>
              </p:ext>
            </p:extLst>
          </p:nvPr>
        </p:nvGraphicFramePr>
        <p:xfrm>
          <a:off x="3429000" y="5286203"/>
          <a:ext cx="145796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7219729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582776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30601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72996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266059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93939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08232035"/>
                    </a:ext>
                  </a:extLst>
                </a:gridCol>
              </a:tblGrid>
              <a:tr h="1371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&lt;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700" b="1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&gt;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29173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5543549" y="1842410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최근등록순 ▼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543549" y="5702092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최근등록순 ▼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543549" y="5908456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이름순</a:t>
            </a:r>
          </a:p>
        </p:txBody>
      </p:sp>
      <p:cxnSp>
        <p:nvCxnSpPr>
          <p:cNvPr id="21" name="직선 화살표 연결선 20"/>
          <p:cNvCxnSpPr>
            <a:cxnSpLocks/>
            <a:stCxn id="17" idx="2"/>
            <a:endCxn id="18" idx="0"/>
          </p:cNvCxnSpPr>
          <p:nvPr/>
        </p:nvCxnSpPr>
        <p:spPr>
          <a:xfrm>
            <a:off x="5969165" y="2048774"/>
            <a:ext cx="0" cy="365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5544755" y="6114331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등록일순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544755" y="6320206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리뷰 많은 순</a:t>
            </a: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647566"/>
              </p:ext>
            </p:extLst>
          </p:nvPr>
        </p:nvGraphicFramePr>
        <p:xfrm>
          <a:off x="1924618" y="2336678"/>
          <a:ext cx="4466724" cy="277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732">
                  <a:extLst>
                    <a:ext uri="{9D8B030D-6E8A-4147-A177-3AD203B41FA5}">
                      <a16:colId xmlns:a16="http://schemas.microsoft.com/office/drawing/2014/main" val="213781445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682181875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570149045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34180667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8588363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74499653"/>
                    </a:ext>
                  </a:extLst>
                </a:gridCol>
                <a:gridCol w="727142">
                  <a:extLst>
                    <a:ext uri="{9D8B030D-6E8A-4147-A177-3AD203B41FA5}">
                      <a16:colId xmlns:a16="http://schemas.microsoft.com/office/drawing/2014/main" val="1490768269"/>
                    </a:ext>
                  </a:extLst>
                </a:gridCol>
              </a:tblGrid>
              <a:tr h="195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No.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가게명</a:t>
                      </a: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가게주소</a:t>
                      </a: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지역</a:t>
                      </a: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/>
                        <a:t>평점</a:t>
                      </a:r>
                      <a:endParaRPr lang="ko-KR" altLang="en-US" sz="900"/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리뷰수</a:t>
                      </a: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등록일</a:t>
                      </a: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7671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100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등나무집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 동작구 </a:t>
                      </a:r>
                      <a:r>
                        <a:rPr lang="ko-KR" altLang="en-US" sz="900" smtClean="0"/>
                        <a:t>대림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4.5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10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2025-11-24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84905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99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마포옥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 마포구 </a:t>
                      </a:r>
                      <a:r>
                        <a:rPr lang="ko-KR" altLang="en-US" sz="900" smtClean="0"/>
                        <a:t>토정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5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2025-11-20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139724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98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여의도다미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 영등포구 </a:t>
                      </a:r>
                      <a:r>
                        <a:rPr lang="ko-KR" altLang="en-US" sz="900" smtClean="0"/>
                        <a:t>국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4.2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13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2025-10-11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386343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97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신사랑방식당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경북 구미시 </a:t>
                      </a:r>
                      <a:r>
                        <a:rPr lang="ko-KR" altLang="en-US" sz="900" smtClean="0"/>
                        <a:t>금오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경북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4.3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11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2025-10-11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42337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96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로스로스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 송파구 </a:t>
                      </a:r>
                      <a:r>
                        <a:rPr lang="ko-KR" altLang="en-US" sz="900" smtClean="0"/>
                        <a:t>오금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3.8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2025-10-11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116181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95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섬집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 용산구 </a:t>
                      </a:r>
                      <a:r>
                        <a:rPr lang="ko-KR" altLang="en-US" sz="900" smtClean="0"/>
                        <a:t>한강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서울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3.6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41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2025-08-26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888847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94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오또뱅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경기 고양시 </a:t>
                      </a:r>
                      <a:r>
                        <a:rPr lang="ko-KR" altLang="en-US" sz="900" smtClean="0"/>
                        <a:t>덕양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경기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4.8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27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2025-08-23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050921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93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해월정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제주특별자치도 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제주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4.9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39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2025-08-23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04545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92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화덕쿡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전북특별자치도 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전북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3.6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16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2025-07-31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34818"/>
                  </a:ext>
                </a:extLst>
              </a:tr>
              <a:tr h="25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91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폭포가든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강원특별자치도 </a:t>
                      </a:r>
                      <a:r>
                        <a:rPr lang="en-US" altLang="ko-KR" sz="900" smtClean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강원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/>
                        <a:t>4.9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15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2025-07-28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82791"/>
                  </a:ext>
                </a:extLst>
              </a:tr>
            </a:tbl>
          </a:graphicData>
        </a:graphic>
      </p:graphicFrame>
      <p:sp>
        <p:nvSpPr>
          <p:cNvPr id="27" name="직사각형 26"/>
          <p:cNvSpPr/>
          <p:nvPr/>
        </p:nvSpPr>
        <p:spPr>
          <a:xfrm>
            <a:off x="5636613" y="1040320"/>
            <a:ext cx="754729" cy="31193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식당 추가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543549" y="6510926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tx2">
                    <a:lumMod val="50000"/>
                  </a:schemeClr>
                </a:solidFill>
              </a:rPr>
              <a:t>평점</a:t>
            </a:r>
            <a:r>
              <a:rPr lang="ko-KR" altLang="en-US" sz="800" b="1" smtClean="0">
                <a:solidFill>
                  <a:schemeClr val="tx2">
                    <a:lumMod val="50000"/>
                  </a:schemeClr>
                </a:solidFill>
              </a:rPr>
              <a:t>순</a:t>
            </a:r>
            <a:endParaRPr lang="ko-KR" altLang="en-US" sz="800" b="1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839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265590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가게목록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가게상세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-1696453" y="167711"/>
            <a:ext cx="1515978" cy="36328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가게 상세 </a:t>
            </a:r>
            <a:r>
              <a:rPr lang="ko-KR" altLang="en-US" sz="1400" smtClean="0"/>
              <a:t>페이지</a:t>
            </a:r>
            <a:endParaRPr lang="en-US" altLang="ko-KR" sz="1400"/>
          </a:p>
        </p:txBody>
      </p:sp>
      <p:sp>
        <p:nvSpPr>
          <p:cNvPr id="12" name="직사각형 11"/>
          <p:cNvSpPr/>
          <p:nvPr/>
        </p:nvSpPr>
        <p:spPr>
          <a:xfrm>
            <a:off x="6003975" y="1032369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</a:rPr>
              <a:t>수정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019278"/>
              </p:ext>
            </p:extLst>
          </p:nvPr>
        </p:nvGraphicFramePr>
        <p:xfrm>
          <a:off x="1959391" y="1441985"/>
          <a:ext cx="4513815" cy="2120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509">
                  <a:extLst>
                    <a:ext uri="{9D8B030D-6E8A-4147-A177-3AD203B41FA5}">
                      <a16:colId xmlns:a16="http://schemas.microsoft.com/office/drawing/2014/main" val="235746479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590921951"/>
                    </a:ext>
                  </a:extLst>
                </a:gridCol>
                <a:gridCol w="577884">
                  <a:extLst>
                    <a:ext uri="{9D8B030D-6E8A-4147-A177-3AD203B41FA5}">
                      <a16:colId xmlns:a16="http://schemas.microsoft.com/office/drawing/2014/main" val="3258780276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468388061"/>
                    </a:ext>
                  </a:extLst>
                </a:gridCol>
                <a:gridCol w="642315">
                  <a:extLst>
                    <a:ext uri="{9D8B030D-6E8A-4147-A177-3AD203B41FA5}">
                      <a16:colId xmlns:a16="http://schemas.microsoft.com/office/drawing/2014/main" val="3053697631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1793927615"/>
                    </a:ext>
                  </a:extLst>
                </a:gridCol>
                <a:gridCol w="929927">
                  <a:extLst>
                    <a:ext uri="{9D8B030D-6E8A-4147-A177-3AD203B41FA5}">
                      <a16:colId xmlns:a16="http://schemas.microsoft.com/office/drawing/2014/main" val="1891784142"/>
                    </a:ext>
                  </a:extLst>
                </a:gridCol>
              </a:tblGrid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가게명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등나무집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주메뉴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한식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bg1"/>
                          </a:solidFill>
                        </a:rPr>
                        <a:t>연락처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000-0000-0000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652282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리뷰수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54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평균평점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4.5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찜수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373842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주소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도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시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구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동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000 0000 000 0000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79449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소개글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맛있는녀석들  </a:t>
                      </a:r>
                      <a:r>
                        <a:rPr lang="en-US" altLang="ko-KR" sz="900" b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회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에 방영된 맛집입니다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554047"/>
                  </a:ext>
                </a:extLst>
              </a:tr>
              <a:tr h="9773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태그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880847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사진수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u="sng" smtClean="0">
                          <a:solidFill>
                            <a:srgbClr val="0070C0"/>
                          </a:solidFill>
                        </a:rPr>
                        <a:t>14</a:t>
                      </a:r>
                      <a:endParaRPr lang="ko-KR" altLang="en-US" sz="900" b="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클립수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u="sng" smtClean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ko-KR" altLang="en-US" sz="900" b="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999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80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265590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가게목록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직사각형 13"/>
          <p:cNvSpPr/>
          <p:nvPr/>
        </p:nvSpPr>
        <p:spPr>
          <a:xfrm>
            <a:off x="-2129589" y="167711"/>
            <a:ext cx="1949114" cy="36328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가게 상세 수정 </a:t>
            </a:r>
            <a:r>
              <a:rPr lang="ko-KR" altLang="en-US" sz="1400" smtClean="0"/>
              <a:t>페이지</a:t>
            </a:r>
            <a:endParaRPr lang="en-US" altLang="ko-KR" sz="1400"/>
          </a:p>
        </p:txBody>
      </p:sp>
      <p:sp>
        <p:nvSpPr>
          <p:cNvPr id="15" name="TextBox 14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가게상세</a:t>
            </a:r>
            <a:r>
              <a:rPr lang="en-US" altLang="ko-KR" sz="1600" b="1"/>
              <a:t>(</a:t>
            </a:r>
            <a:r>
              <a:rPr lang="ko-KR" altLang="en-US" sz="1600" b="1"/>
              <a:t>수정</a:t>
            </a:r>
            <a:r>
              <a:rPr lang="en-US" altLang="ko-KR" sz="1600" b="1"/>
              <a:t>)</a:t>
            </a:r>
            <a:endParaRPr lang="ko-KR" altLang="en-US" sz="1600" b="1"/>
          </a:p>
        </p:txBody>
      </p:sp>
      <p:sp>
        <p:nvSpPr>
          <p:cNvPr id="11" name="직사각형 10"/>
          <p:cNvSpPr/>
          <p:nvPr/>
        </p:nvSpPr>
        <p:spPr>
          <a:xfrm>
            <a:off x="6003975" y="1035825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419787" y="1035825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</a:rPr>
              <a:t>적용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798418"/>
              </p:ext>
            </p:extLst>
          </p:nvPr>
        </p:nvGraphicFramePr>
        <p:xfrm>
          <a:off x="1959391" y="1441985"/>
          <a:ext cx="4513815" cy="2120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509">
                  <a:extLst>
                    <a:ext uri="{9D8B030D-6E8A-4147-A177-3AD203B41FA5}">
                      <a16:colId xmlns:a16="http://schemas.microsoft.com/office/drawing/2014/main" val="235746479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590921951"/>
                    </a:ext>
                  </a:extLst>
                </a:gridCol>
                <a:gridCol w="577884">
                  <a:extLst>
                    <a:ext uri="{9D8B030D-6E8A-4147-A177-3AD203B41FA5}">
                      <a16:colId xmlns:a16="http://schemas.microsoft.com/office/drawing/2014/main" val="3258780276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468388061"/>
                    </a:ext>
                  </a:extLst>
                </a:gridCol>
                <a:gridCol w="642315">
                  <a:extLst>
                    <a:ext uri="{9D8B030D-6E8A-4147-A177-3AD203B41FA5}">
                      <a16:colId xmlns:a16="http://schemas.microsoft.com/office/drawing/2014/main" val="3053697631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1793927615"/>
                    </a:ext>
                  </a:extLst>
                </a:gridCol>
                <a:gridCol w="929927">
                  <a:extLst>
                    <a:ext uri="{9D8B030D-6E8A-4147-A177-3AD203B41FA5}">
                      <a16:colId xmlns:a16="http://schemas.microsoft.com/office/drawing/2014/main" val="1891784142"/>
                    </a:ext>
                  </a:extLst>
                </a:gridCol>
              </a:tblGrid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가게명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등나무집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주메뉴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한식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bg1"/>
                          </a:solidFill>
                        </a:rPr>
                        <a:t>연락처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000-0000-0000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652282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리뷰수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54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평균평점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4.5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찜수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373842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주소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도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시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구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동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000 0000 000 0000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79449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소개글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맛있는녀석들  </a:t>
                      </a:r>
                      <a:r>
                        <a:rPr lang="en-US" altLang="ko-KR" sz="900" b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회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에 방영된 맛집입니다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554047"/>
                  </a:ext>
                </a:extLst>
              </a:tr>
              <a:tr h="9773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태그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880847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사진수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u="sng" smtClean="0">
                          <a:solidFill>
                            <a:srgbClr val="0070C0"/>
                          </a:solidFill>
                        </a:rPr>
                        <a:t>14</a:t>
                      </a:r>
                      <a:endParaRPr lang="ko-KR" altLang="en-US" sz="900" b="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클립수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u="sng" smtClean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ko-KR" altLang="en-US" sz="900" b="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999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93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2655906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가게목록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가게등록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-2129589" y="167711"/>
            <a:ext cx="1949114" cy="36328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가게 등록 </a:t>
            </a:r>
            <a:r>
              <a:rPr lang="ko-KR" altLang="en-US" sz="1400" smtClean="0"/>
              <a:t>페이지</a:t>
            </a:r>
            <a:endParaRPr lang="en-US" altLang="ko-KR" sz="140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35615"/>
              </p:ext>
            </p:extLst>
          </p:nvPr>
        </p:nvGraphicFramePr>
        <p:xfrm>
          <a:off x="1959391" y="1441985"/>
          <a:ext cx="4513815" cy="2120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509">
                  <a:extLst>
                    <a:ext uri="{9D8B030D-6E8A-4147-A177-3AD203B41FA5}">
                      <a16:colId xmlns:a16="http://schemas.microsoft.com/office/drawing/2014/main" val="235746479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590921951"/>
                    </a:ext>
                  </a:extLst>
                </a:gridCol>
                <a:gridCol w="577884">
                  <a:extLst>
                    <a:ext uri="{9D8B030D-6E8A-4147-A177-3AD203B41FA5}">
                      <a16:colId xmlns:a16="http://schemas.microsoft.com/office/drawing/2014/main" val="3258780276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468388061"/>
                    </a:ext>
                  </a:extLst>
                </a:gridCol>
                <a:gridCol w="642315">
                  <a:extLst>
                    <a:ext uri="{9D8B030D-6E8A-4147-A177-3AD203B41FA5}">
                      <a16:colId xmlns:a16="http://schemas.microsoft.com/office/drawing/2014/main" val="3053697631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1793927615"/>
                    </a:ext>
                  </a:extLst>
                </a:gridCol>
                <a:gridCol w="929927">
                  <a:extLst>
                    <a:ext uri="{9D8B030D-6E8A-4147-A177-3AD203B41FA5}">
                      <a16:colId xmlns:a16="http://schemas.microsoft.com/office/drawing/2014/main" val="1891784142"/>
                    </a:ext>
                  </a:extLst>
                </a:gridCol>
              </a:tblGrid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가게명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등나무집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주메뉴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한식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bg1"/>
                          </a:solidFill>
                        </a:rPr>
                        <a:t>연락처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000-0000-0000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652282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리뷰수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54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평균평점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4.5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찜수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373842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주소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도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시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구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동 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000 0000 000 0000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79449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소개글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맛있는녀석들  </a:t>
                      </a:r>
                      <a:r>
                        <a:rPr lang="en-US" altLang="ko-KR" sz="900" b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00</a:t>
                      </a:r>
                      <a:r>
                        <a:rPr lang="ko-KR" altLang="en-US" sz="900" b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회</a:t>
                      </a:r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에 방영된 맛집입니다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554047"/>
                  </a:ext>
                </a:extLst>
              </a:tr>
              <a:tr h="9773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태그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880847"/>
                  </a:ext>
                </a:extLst>
              </a:tr>
              <a:tr h="2152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사진수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u="sng" smtClean="0">
                          <a:solidFill>
                            <a:srgbClr val="0070C0"/>
                          </a:solidFill>
                        </a:rPr>
                        <a:t>14</a:t>
                      </a:r>
                      <a:endParaRPr lang="ko-KR" altLang="en-US" sz="900" b="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mtClean="0">
                          <a:solidFill>
                            <a:schemeClr val="bg1"/>
                          </a:solidFill>
                        </a:rPr>
                        <a:t>클립수</a:t>
                      </a:r>
                      <a:endParaRPr lang="ko-KR" altLang="en-US" sz="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u="sng" smtClean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ko-KR" altLang="en-US" sz="900" b="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999452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6003975" y="1032905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419787" y="1032905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smtClean="0">
                <a:solidFill>
                  <a:schemeClr val="bg1"/>
                </a:solidFill>
              </a:rPr>
              <a:t>등록</a:t>
            </a:r>
            <a:endParaRPr lang="ko-KR" altLang="en-US" sz="9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415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2968733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리뷰목록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직사각형 13"/>
          <p:cNvSpPr/>
          <p:nvPr/>
        </p:nvSpPr>
        <p:spPr>
          <a:xfrm>
            <a:off x="-1732547" y="167710"/>
            <a:ext cx="1552072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리뷰 목록 페이지</a:t>
            </a:r>
            <a:endParaRPr lang="en-US" altLang="ko-KR" sz="1400"/>
          </a:p>
        </p:txBody>
      </p:sp>
      <p:sp>
        <p:nvSpPr>
          <p:cNvPr id="15" name="TextBox 14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리뷰목록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928057" y="1464850"/>
            <a:ext cx="3997493" cy="2776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925550" y="1464850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543549" y="1842410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최근등록순 ▼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01769"/>
              </p:ext>
            </p:extLst>
          </p:nvPr>
        </p:nvGraphicFramePr>
        <p:xfrm>
          <a:off x="1924618" y="2255138"/>
          <a:ext cx="4466724" cy="260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282">
                  <a:extLst>
                    <a:ext uri="{9D8B030D-6E8A-4147-A177-3AD203B41FA5}">
                      <a16:colId xmlns:a16="http://schemas.microsoft.com/office/drawing/2014/main" val="213781445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68218187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570149045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34180667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53719096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74499653"/>
                    </a:ext>
                  </a:extLst>
                </a:gridCol>
                <a:gridCol w="714442">
                  <a:extLst>
                    <a:ext uri="{9D8B030D-6E8A-4147-A177-3AD203B41FA5}">
                      <a16:colId xmlns:a16="http://schemas.microsoft.com/office/drawing/2014/main" val="1490768269"/>
                    </a:ext>
                  </a:extLst>
                </a:gridCol>
              </a:tblGrid>
              <a:tr h="224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No.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가게명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작성자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평점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좋아요수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작성일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7671"/>
                  </a:ext>
                </a:extLst>
              </a:tr>
              <a:tr h="247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30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류몽민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0294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국물이 뜨끈하니 </a:t>
                      </a:r>
                      <a:r>
                        <a:rPr lang="en-US" altLang="ko-KR" sz="90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i="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18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2025-12-10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849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29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락희돈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9301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제 입맛엔 맞지 않</a:t>
                      </a:r>
                      <a:r>
                        <a:rPr lang="en-US" altLang="ko-KR" sz="90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7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2025-12-09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13972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28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미소다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0052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친절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위생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맛 </a:t>
                      </a:r>
                      <a:r>
                        <a:rPr lang="en-US" altLang="ko-KR" sz="900"/>
                        <a:t>3</a:t>
                      </a:r>
                      <a:r>
                        <a:rPr lang="ko-KR" altLang="en-US" sz="900"/>
                        <a:t>박</a:t>
                      </a:r>
                      <a:r>
                        <a:rPr lang="en-US" altLang="ko-KR" sz="90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29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2025-11-28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38634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27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동촌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0012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고기 간이 잘 베어</a:t>
                      </a:r>
                      <a:r>
                        <a:rPr lang="en-US" altLang="ko-KR" sz="90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12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2025-11-26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4233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이상향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9310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너무 매워서 미각 </a:t>
                      </a:r>
                      <a:r>
                        <a:rPr lang="en-US" altLang="ko-KR" sz="90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86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2025-11-16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11618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25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솔뫼집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9910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저에겐 너무 건강</a:t>
                      </a:r>
                      <a:r>
                        <a:rPr lang="en-US" altLang="ko-KR" sz="90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34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2025-11-05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88884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24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제제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4920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간이 좀 덜 된건지 </a:t>
                      </a:r>
                      <a:r>
                        <a:rPr lang="en-US" altLang="ko-KR" sz="900" baseline="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2025-09-11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0509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23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중화루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3325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맵기도 딱 좋고 간</a:t>
                      </a:r>
                      <a:r>
                        <a:rPr lang="en-US" altLang="ko-KR" sz="90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19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2025-09-10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0454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22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계동집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3920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국물이 진하고 깊</a:t>
                      </a:r>
                      <a:r>
                        <a:rPr lang="en-US" altLang="ko-KR" sz="90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4.5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3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2025-09-10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3481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회동집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/>
                        <a:t>먹보</a:t>
                      </a:r>
                      <a:r>
                        <a:rPr lang="en-US" altLang="ko-KR" sz="900"/>
                        <a:t>2010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엄마가 보고싶어</a:t>
                      </a:r>
                      <a:r>
                        <a:rPr lang="en-US" altLang="ko-KR" sz="900"/>
                        <a:t>…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90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5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2025-08-24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8279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342612"/>
              </p:ext>
            </p:extLst>
          </p:nvPr>
        </p:nvGraphicFramePr>
        <p:xfrm>
          <a:off x="3429000" y="5187143"/>
          <a:ext cx="145796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7219729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582776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30601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72996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266059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93939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08232035"/>
                    </a:ext>
                  </a:extLst>
                </a:gridCol>
              </a:tblGrid>
              <a:tr h="1371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&lt;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700" b="1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&gt;</a:t>
                      </a:r>
                      <a:endParaRPr lang="ko-KR" altLang="en-US" sz="700" b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29173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5543549" y="5863588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최근등록순 ▼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543549" y="6069952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가게이름순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5543549" y="6276316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작성자이름순</a:t>
            </a:r>
          </a:p>
        </p:txBody>
      </p:sp>
      <p:cxnSp>
        <p:nvCxnSpPr>
          <p:cNvPr id="22" name="직선 화살표 연결선 21"/>
          <p:cNvCxnSpPr>
            <a:cxnSpLocks/>
            <a:stCxn id="16" idx="2"/>
            <a:endCxn id="19" idx="0"/>
          </p:cNvCxnSpPr>
          <p:nvPr/>
        </p:nvCxnSpPr>
        <p:spPr>
          <a:xfrm>
            <a:off x="5969165" y="2048774"/>
            <a:ext cx="0" cy="3814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5543549" y="6482680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좋아요순</a:t>
            </a:r>
          </a:p>
        </p:txBody>
      </p:sp>
    </p:spTree>
    <p:extLst>
      <p:ext uri="{BB962C8B-B14F-4D97-AF65-F5344CB8AC3E}">
        <p14:creationId xmlns:p14="http://schemas.microsoft.com/office/powerpoint/2010/main" val="3988359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2968733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리뷰목록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리뷰상세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-1732547" y="167710"/>
            <a:ext cx="1552072" cy="36328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리뷰 상세 </a:t>
            </a:r>
            <a:r>
              <a:rPr lang="ko-KR" altLang="en-US" sz="1400" smtClean="0"/>
              <a:t>페이지</a:t>
            </a:r>
            <a:endParaRPr lang="en-US" altLang="ko-KR" sz="14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644922"/>
              </p:ext>
            </p:extLst>
          </p:nvPr>
        </p:nvGraphicFramePr>
        <p:xfrm>
          <a:off x="1959391" y="1434263"/>
          <a:ext cx="4491288" cy="2611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822">
                  <a:extLst>
                    <a:ext uri="{9D8B030D-6E8A-4147-A177-3AD203B41FA5}">
                      <a16:colId xmlns:a16="http://schemas.microsoft.com/office/drawing/2014/main" val="4201419865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3337951651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1945466343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19043667"/>
                    </a:ext>
                  </a:extLst>
                </a:gridCol>
              </a:tblGrid>
              <a:tr h="191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가게이름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등나무집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2712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275814"/>
                  </a:ext>
                </a:extLst>
              </a:tr>
              <a:tr h="191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분위기좋은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en-US" altLang="ko-KR" sz="900" b="0" baseline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가족외식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en-US" altLang="ko-KR" sz="900" b="0" baseline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교통이편리한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443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평점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bg1"/>
                          </a:solidFill>
                        </a:rPr>
                        <a:t>좋아요수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36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550455"/>
                  </a:ext>
                </a:extLst>
              </a:tr>
              <a:tr h="2611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bg1"/>
                          </a:solidFill>
                        </a:rPr>
                        <a:t>첨부파일</a:t>
                      </a:r>
                      <a:r>
                        <a:rPr lang="en-US" altLang="ko-KR" sz="90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900" smtClean="0">
                          <a:solidFill>
                            <a:sysClr val="windowText" lastClr="000000"/>
                          </a:solidFill>
                        </a:rPr>
                        <a:t>image2025100001.jpg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44438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bg1"/>
                          </a:solidFill>
                        </a:rPr>
                        <a:t>첨부파일</a:t>
                      </a:r>
                      <a:r>
                        <a:rPr lang="en-US" altLang="ko-KR" sz="900" smtClean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900" smtClean="0">
                          <a:solidFill>
                            <a:sysClr val="windowText" lastClr="000000"/>
                          </a:solidFill>
                        </a:rPr>
                        <a:t>image2025100002.jpg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427948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bg1"/>
                          </a:solidFill>
                        </a:rPr>
                        <a:t>첨부파일</a:t>
                      </a:r>
                      <a:r>
                        <a:rPr lang="en-US" altLang="ko-KR" sz="90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06887"/>
                  </a:ext>
                </a:extLst>
              </a:tr>
              <a:tr h="8263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분위기도 좋고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가족끼리 식사하기 딱 좋은 것 같아요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번잡하지 않은 곳에 있으면서도 정류장과 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분 거리에 있어서 차가 없어도 자주 올 수 있을 것 같아요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39390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2025-07-10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노출여부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70743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5362575" y="3763591"/>
            <a:ext cx="699457" cy="24802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2">
                    <a:lumMod val="50000"/>
                  </a:schemeClr>
                </a:solidFill>
              </a:rPr>
              <a:t>    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Y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    ▼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20125" y="3763589"/>
            <a:ext cx="291829" cy="24802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629275" y="2149368"/>
            <a:ext cx="754729" cy="2000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다운로드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5629275" y="2680155"/>
            <a:ext cx="754729" cy="2000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다운로드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629275" y="2413174"/>
            <a:ext cx="754729" cy="2000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다운로드</a:t>
            </a:r>
          </a:p>
        </p:txBody>
      </p:sp>
    </p:spTree>
    <p:extLst>
      <p:ext uri="{BB962C8B-B14F-4D97-AF65-F5344CB8AC3E}">
        <p14:creationId xmlns:p14="http://schemas.microsoft.com/office/powerpoint/2010/main" val="355835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2968733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리뷰목록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리뷰상세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-1732547" y="167710"/>
            <a:ext cx="1552072" cy="36328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리뷰 상세 </a:t>
            </a:r>
            <a:r>
              <a:rPr lang="ko-KR" altLang="en-US" sz="1400" smtClean="0"/>
              <a:t>페이지</a:t>
            </a:r>
            <a:endParaRPr lang="en-US" altLang="ko-KR" sz="14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586001"/>
              </p:ext>
            </p:extLst>
          </p:nvPr>
        </p:nvGraphicFramePr>
        <p:xfrm>
          <a:off x="1959391" y="1434263"/>
          <a:ext cx="4491288" cy="313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822">
                  <a:extLst>
                    <a:ext uri="{9D8B030D-6E8A-4147-A177-3AD203B41FA5}">
                      <a16:colId xmlns:a16="http://schemas.microsoft.com/office/drawing/2014/main" val="4201419865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3337951651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1945466343"/>
                    </a:ext>
                  </a:extLst>
                </a:gridCol>
                <a:gridCol w="1122822">
                  <a:extLst>
                    <a:ext uri="{9D8B030D-6E8A-4147-A177-3AD203B41FA5}">
                      <a16:colId xmlns:a16="http://schemas.microsoft.com/office/drawing/2014/main" val="19043667"/>
                    </a:ext>
                  </a:extLst>
                </a:gridCol>
              </a:tblGrid>
              <a:tr h="191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가게이름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등나무집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먹보</a:t>
                      </a:r>
                      <a:r>
                        <a:rPr lang="en-US" altLang="ko-KR" sz="900" b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2712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275814"/>
                  </a:ext>
                </a:extLst>
              </a:tr>
              <a:tr h="191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분위기좋은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en-US" altLang="ko-KR" sz="900" b="0" baseline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가족외식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en-US" altLang="ko-KR" sz="900" b="0" baseline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교통이편리한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443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평점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bg1"/>
                          </a:solidFill>
                        </a:rPr>
                        <a:t>좋아요수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36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550455"/>
                  </a:ext>
                </a:extLst>
              </a:tr>
              <a:tr h="1308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bg1"/>
                          </a:solidFill>
                        </a:rPr>
                        <a:t>첨부파일</a:t>
                      </a:r>
                      <a:endParaRPr lang="ko-KR" altLang="en-US" sz="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444384"/>
                  </a:ext>
                </a:extLst>
              </a:tr>
              <a:tr h="8263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분위기도 좋고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가족끼리 식사하기 딱 좋은 것 같아요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번잡하지 않은 곳에 있으면서도 정류장과 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r>
                        <a:rPr lang="ko-KR" altLang="en-US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분 거리에 있어서 차가 없어도 자주 올 수 있을 것 같아요</a:t>
                      </a:r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39390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2025-07-10</a:t>
                      </a:r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bg1"/>
                          </a:solidFill>
                        </a:rPr>
                        <a:t>노출여부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70743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5362575" y="4287467"/>
            <a:ext cx="699457" cy="24802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2">
                    <a:lumMod val="50000"/>
                  </a:schemeClr>
                </a:solidFill>
              </a:rPr>
              <a:t>    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Y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    ▼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20125" y="4287465"/>
            <a:ext cx="291829" cy="24802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216027" y="2230432"/>
            <a:ext cx="1002348" cy="952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2">
                    <a:lumMod val="50000"/>
                  </a:schemeClr>
                </a:solidFill>
              </a:rPr>
              <a:t>첨부파일</a:t>
            </a:r>
            <a:r>
              <a:rPr lang="en-US" altLang="ko-KR" sz="900" smtClean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9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278201" y="2230431"/>
            <a:ext cx="985837" cy="952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2">
                    <a:lumMod val="50000"/>
                  </a:schemeClr>
                </a:solidFill>
              </a:rPr>
              <a:t>첨부파일</a:t>
            </a:r>
            <a:r>
              <a:rPr lang="en-US" altLang="ko-KR" sz="900">
                <a:solidFill>
                  <a:schemeClr val="tx2">
                    <a:lumMod val="50000"/>
                  </a:schemeClr>
                </a:solidFill>
              </a:rPr>
              <a:t>2</a:t>
            </a:r>
            <a:endParaRPr lang="ko-KR" altLang="en-US" sz="9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323864" y="2230432"/>
            <a:ext cx="985837" cy="952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2">
                    <a:lumMod val="50000"/>
                  </a:schemeClr>
                </a:solidFill>
              </a:rPr>
              <a:t>첨부파일</a:t>
            </a:r>
            <a:r>
              <a:rPr lang="en-US" altLang="ko-KR" sz="900">
                <a:solidFill>
                  <a:schemeClr val="tx2">
                    <a:lumMod val="50000"/>
                  </a:schemeClr>
                </a:solidFill>
              </a:rPr>
              <a:t>3</a:t>
            </a:r>
            <a:endParaRPr lang="ko-KR" altLang="en-US" sz="90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3" name="Picture 2" descr="기호 다운로드 아이콘 |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330" y="2265929"/>
            <a:ext cx="120490" cy="12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기호 다운로드 아이콘 |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025" y="2265929"/>
            <a:ext cx="120490" cy="12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기호 다운로드 아이콘 |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037" y="2265929"/>
            <a:ext cx="120490" cy="12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3165227" y="3185607"/>
            <a:ext cx="3246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mtClean="0">
                <a:solidFill>
                  <a:sysClr val="windowText" lastClr="000000"/>
                </a:solidFill>
              </a:rPr>
              <a:t>image2025100001.jpg       image2025100002.jpg     image2025100003.jpg           </a:t>
            </a:r>
            <a:endParaRPr lang="ko-KR" altLang="en-US" sz="8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646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3690629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태그목록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태그목록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-1732547" y="167710"/>
            <a:ext cx="1552072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태그 목록 페이지</a:t>
            </a:r>
            <a:endParaRPr lang="en-US" altLang="ko-KR" sz="1400" dirty="0"/>
          </a:p>
        </p:txBody>
      </p:sp>
      <p:sp>
        <p:nvSpPr>
          <p:cNvPr id="11" name="직사각형 10"/>
          <p:cNvSpPr/>
          <p:nvPr/>
        </p:nvSpPr>
        <p:spPr>
          <a:xfrm>
            <a:off x="1928057" y="1464850"/>
            <a:ext cx="3997493" cy="2776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925550" y="1464850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543549" y="1842410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인기순 ▼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5540111" y="5159482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인기순 ▼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540111" y="5365846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등록일순</a:t>
            </a:r>
          </a:p>
        </p:txBody>
      </p:sp>
      <p:cxnSp>
        <p:nvCxnSpPr>
          <p:cNvPr id="20" name="직선 화살표 연결선 19"/>
          <p:cNvCxnSpPr>
            <a:cxnSpLocks/>
            <a:stCxn id="16" idx="2"/>
            <a:endCxn id="17" idx="0"/>
          </p:cNvCxnSpPr>
          <p:nvPr/>
        </p:nvCxnSpPr>
        <p:spPr>
          <a:xfrm flipH="1">
            <a:off x="5965727" y="2048774"/>
            <a:ext cx="3438" cy="3110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모서리가 둥근 직사각형 21"/>
          <p:cNvSpPr/>
          <p:nvPr/>
        </p:nvSpPr>
        <p:spPr>
          <a:xfrm>
            <a:off x="1922777" y="4049045"/>
            <a:ext cx="1103843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50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반려동물 동반   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23" name="모서리가 둥근 직사각형 22"/>
          <p:cNvSpPr/>
          <p:nvPr/>
        </p:nvSpPr>
        <p:spPr>
          <a:xfrm>
            <a:off x="2837379" y="2252847"/>
            <a:ext cx="784270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데이트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1928057" y="2511727"/>
            <a:ext cx="904043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노키즈존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893944" y="2767761"/>
            <a:ext cx="709806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비건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2862154" y="2767762"/>
            <a:ext cx="909746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가족모임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3992721" y="2511726"/>
            <a:ext cx="922479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운치 있는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1934407" y="2767762"/>
            <a:ext cx="808793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어두운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5054942" y="3284089"/>
            <a:ext cx="709807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단체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042387" y="2508363"/>
            <a:ext cx="814067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깨끗한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2957672" y="2511726"/>
            <a:ext cx="909478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로맨틱한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3748113" y="2252847"/>
            <a:ext cx="698320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친구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4576465" y="2254661"/>
            <a:ext cx="1060148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아이와 함께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766645" y="2249056"/>
            <a:ext cx="702842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밝은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934407" y="3023797"/>
            <a:ext cx="929149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비즈니스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2982901" y="3023796"/>
            <a:ext cx="833619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특별한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3934177" y="3023796"/>
            <a:ext cx="838324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친절한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1937998" y="3279832"/>
            <a:ext cx="839969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기념일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4888228" y="3023796"/>
            <a:ext cx="941410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이색적인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080032" y="3279832"/>
            <a:ext cx="849462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조용한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2897969" y="3279832"/>
            <a:ext cx="1062061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풍경이 좋은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4730666" y="2765324"/>
            <a:ext cx="1283311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사진이 잘 나오는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1931840" y="3535867"/>
            <a:ext cx="900259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와이파이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2944720" y="3535866"/>
            <a:ext cx="844639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주차장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3901980" y="3535866"/>
            <a:ext cx="1064385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가성비 있는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074346" y="3533610"/>
            <a:ext cx="1143692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서비스가 좋은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2939538" y="3791900"/>
            <a:ext cx="920344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포장 가능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1922777" y="3791902"/>
            <a:ext cx="914602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지역화폐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3960030" y="3791900"/>
            <a:ext cx="830744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디저트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4888228" y="3791900"/>
            <a:ext cx="750927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빠른 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370856" y="3948358"/>
            <a:ext cx="643121" cy="1015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chemeClr val="tx2">
                    <a:lumMod val="50000"/>
                  </a:schemeClr>
                </a:solidFill>
              </a:rPr>
              <a:t>2025-12-01</a:t>
            </a:r>
            <a:endParaRPr lang="ko-KR" altLang="en-US" sz="600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5370855" y="4159836"/>
            <a:ext cx="643122" cy="12256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</a:rPr>
              <a:t>수정</a:t>
            </a:r>
            <a:endParaRPr lang="ko-KR" altLang="en-US" sz="800" b="1">
              <a:solidFill>
                <a:schemeClr val="bg1"/>
              </a:solidFill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6013977" y="4081292"/>
            <a:ext cx="287561" cy="221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65480" y="4301896"/>
            <a:ext cx="6094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등록일</a:t>
            </a:r>
            <a:endParaRPr lang="en-US" altLang="ko-KR" sz="700"/>
          </a:p>
          <a:p>
            <a:r>
              <a:rPr lang="ko-KR" altLang="en-US" sz="700"/>
              <a:t>사용된 수</a:t>
            </a:r>
            <a:r>
              <a:rPr lang="en-US" altLang="ko-KR" sz="700"/>
              <a:t>(</a:t>
            </a:r>
            <a:r>
              <a:rPr lang="ko-KR" altLang="en-US" sz="700"/>
              <a:t>인기 정도</a:t>
            </a:r>
            <a:r>
              <a:rPr lang="en-US" altLang="ko-KR" sz="700"/>
              <a:t>)</a:t>
            </a:r>
            <a:r>
              <a:rPr lang="ko-KR" altLang="en-US" sz="700"/>
              <a:t> 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5636613" y="1053020"/>
            <a:ext cx="754729" cy="20768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태그 추가</a:t>
            </a:r>
          </a:p>
        </p:txBody>
      </p:sp>
      <p:sp>
        <p:nvSpPr>
          <p:cNvPr id="60" name="모서리가 둥근 직사각형 59"/>
          <p:cNvSpPr/>
          <p:nvPr/>
        </p:nvSpPr>
        <p:spPr>
          <a:xfrm>
            <a:off x="1922777" y="2252847"/>
            <a:ext cx="784270" cy="18222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2">
                    <a:lumMod val="75000"/>
                  </a:schemeClr>
                </a:solidFill>
              </a:rPr>
              <a:t>#  |          </a:t>
            </a:r>
            <a:r>
              <a:rPr lang="ko-KR" altLang="en-US" sz="800" b="1">
                <a:solidFill>
                  <a:schemeClr val="tx2">
                    <a:lumMod val="75000"/>
                  </a:schemeClr>
                </a:solidFill>
              </a:rPr>
              <a:t>   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⋮</a:t>
            </a:r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altLang="ko-KR" sz="800">
                <a:solidFill>
                  <a:srgbClr val="C00000"/>
                </a:solidFill>
              </a:rPr>
              <a:t>X</a:t>
            </a:r>
            <a:endParaRPr lang="en-US" altLang="ko-KR" sz="800" b="1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 flipH="1">
            <a:off x="2474698" y="1172070"/>
            <a:ext cx="3068851" cy="1009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098715" y="1918466"/>
            <a:ext cx="529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새 태그 입력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5370855" y="4052662"/>
            <a:ext cx="643122" cy="10738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2">
                    <a:lumMod val="50000"/>
                  </a:schemeClr>
                </a:solidFill>
              </a:rPr>
              <a:t>14</a:t>
            </a:r>
            <a:r>
              <a:rPr lang="ko-KR" altLang="en-US" sz="600" b="1">
                <a:solidFill>
                  <a:schemeClr val="tx2">
                    <a:lumMod val="50000"/>
                  </a:schemeClr>
                </a:solidFill>
              </a:rPr>
              <a:t>회 사용</a:t>
            </a:r>
            <a:endParaRPr lang="ko-KR" altLang="en-US" sz="500" b="1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985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3690629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태그목록</a:t>
            </a:r>
            <a:endParaRPr lang="en-US" altLang="ko-KR" sz="1300" b="1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태그목록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-1732547" y="167710"/>
            <a:ext cx="1552072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태그 목록 페이지</a:t>
            </a:r>
            <a:endParaRPr lang="en-US" altLang="ko-KR" sz="1400" dirty="0"/>
          </a:p>
        </p:txBody>
      </p:sp>
      <p:sp>
        <p:nvSpPr>
          <p:cNvPr id="11" name="직사각형 10"/>
          <p:cNvSpPr/>
          <p:nvPr/>
        </p:nvSpPr>
        <p:spPr>
          <a:xfrm>
            <a:off x="1928057" y="1464850"/>
            <a:ext cx="3997493" cy="2776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925550" y="1464850"/>
            <a:ext cx="469231" cy="27766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543549" y="1842410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인기순 ▼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5540111" y="5953570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인기순 ▼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540111" y="6159934"/>
            <a:ext cx="851231" cy="206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2">
                    <a:lumMod val="50000"/>
                  </a:schemeClr>
                </a:solidFill>
              </a:rPr>
              <a:t>등록일순</a:t>
            </a:r>
          </a:p>
        </p:txBody>
      </p:sp>
      <p:cxnSp>
        <p:nvCxnSpPr>
          <p:cNvPr id="20" name="직선 화살표 연결선 19"/>
          <p:cNvCxnSpPr>
            <a:cxnSpLocks/>
            <a:stCxn id="16" idx="2"/>
            <a:endCxn id="17" idx="0"/>
          </p:cNvCxnSpPr>
          <p:nvPr/>
        </p:nvCxnSpPr>
        <p:spPr>
          <a:xfrm flipH="1">
            <a:off x="5965727" y="2048774"/>
            <a:ext cx="3438" cy="3904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5636613" y="1053020"/>
            <a:ext cx="754729" cy="20768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</a:rPr>
              <a:t>태그 추가</a:t>
            </a: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681892"/>
              </p:ext>
            </p:extLst>
          </p:nvPr>
        </p:nvGraphicFramePr>
        <p:xfrm>
          <a:off x="1924618" y="2255138"/>
          <a:ext cx="4466724" cy="260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123">
                  <a:extLst>
                    <a:ext uri="{9D8B030D-6E8A-4147-A177-3AD203B41FA5}">
                      <a16:colId xmlns:a16="http://schemas.microsoft.com/office/drawing/2014/main" val="2137814450"/>
                    </a:ext>
                  </a:extLst>
                </a:gridCol>
                <a:gridCol w="1052476">
                  <a:extLst>
                    <a:ext uri="{9D8B030D-6E8A-4147-A177-3AD203B41FA5}">
                      <a16:colId xmlns:a16="http://schemas.microsoft.com/office/drawing/2014/main" val="682181875"/>
                    </a:ext>
                  </a:extLst>
                </a:gridCol>
                <a:gridCol w="761483">
                  <a:extLst>
                    <a:ext uri="{9D8B030D-6E8A-4147-A177-3AD203B41FA5}">
                      <a16:colId xmlns:a16="http://schemas.microsoft.com/office/drawing/2014/main" val="2570149045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418066701"/>
                    </a:ext>
                  </a:extLst>
                </a:gridCol>
                <a:gridCol w="1108142">
                  <a:extLst>
                    <a:ext uri="{9D8B030D-6E8A-4147-A177-3AD203B41FA5}">
                      <a16:colId xmlns:a16="http://schemas.microsoft.com/office/drawing/2014/main" val="1537190961"/>
                    </a:ext>
                  </a:extLst>
                </a:gridCol>
              </a:tblGrid>
              <a:tr h="224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No.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/>
                        <a:t>태그명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Click Count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등록일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수정일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7671"/>
                  </a:ext>
                </a:extLst>
              </a:tr>
              <a:tr h="247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30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b="1" dirty="0"/>
                        <a:t>|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2025-12-11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849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29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데이트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491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2025-12-05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13972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28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가족모임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198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2025-12-01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38634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27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반려동물 동반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153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2025-11-30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2025-12-01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4233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26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/>
                        <a:t>노키즈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136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2025-11-15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2025-12-01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11618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25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청결한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122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2025-11-11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2025-11-30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88884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24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주차 가능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121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2025-11-11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0509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23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이색적인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120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2025-11-04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0454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22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특별한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117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2025-10-14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2025-10-27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3481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/>
                        <a:t>21</a:t>
                      </a:r>
                      <a:endParaRPr lang="ko-KR" altLang="en-US" sz="90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사진이 잘 나오는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106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2025-07-17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8279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508BF77-851E-3E7C-042B-5C84081A2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844605"/>
              </p:ext>
            </p:extLst>
          </p:nvPr>
        </p:nvGraphicFramePr>
        <p:xfrm>
          <a:off x="3429000" y="5187143"/>
          <a:ext cx="145796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7219729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582776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30601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72996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266059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93939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08232035"/>
                    </a:ext>
                  </a:extLst>
                </a:gridCol>
              </a:tblGrid>
              <a:tr h="1371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&lt;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700" b="1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ko-KR" altLang="en-US" sz="700" b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&gt;</a:t>
                      </a:r>
                      <a:endParaRPr lang="ko-KR" altLang="en-US" sz="700" b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29173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586CE8C-718C-8802-9782-13B562F60227}"/>
              </a:ext>
            </a:extLst>
          </p:cNvPr>
          <p:cNvCxnSpPr/>
          <p:nvPr/>
        </p:nvCxnSpPr>
        <p:spPr>
          <a:xfrm flipH="1">
            <a:off x="2474698" y="1172070"/>
            <a:ext cx="3068851" cy="1009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368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4412522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직사각형 12"/>
          <p:cNvSpPr/>
          <p:nvPr/>
        </p:nvSpPr>
        <p:spPr>
          <a:xfrm>
            <a:off x="-1732547" y="167710"/>
            <a:ext cx="1552072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유입 통계 페이지</a:t>
            </a:r>
            <a:endParaRPr lang="en-US" altLang="ko-KR" sz="14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유입통계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1943100" y="1333146"/>
            <a:ext cx="4448175" cy="1398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943100" y="1733196"/>
            <a:ext cx="4448175" cy="1398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09687" y="1364593"/>
            <a:ext cx="1795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/>
              <a:t>&lt;  2025.12.11. </a:t>
            </a:r>
            <a:r>
              <a:rPr lang="ko-KR" altLang="en-US" sz="1400"/>
              <a:t>📆</a:t>
            </a:r>
            <a:r>
              <a:rPr lang="ko-KR" altLang="en-US" b="1"/>
              <a:t> </a:t>
            </a:r>
            <a:r>
              <a:rPr lang="en-US" altLang="ko-KR" sz="1600" b="1"/>
              <a:t>&gt;</a:t>
            </a:r>
            <a:endParaRPr lang="ko-KR" altLang="en-US" sz="1600" b="1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3290637" y="1911876"/>
            <a:ext cx="1795713" cy="7887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총 방문 수</a:t>
            </a:r>
            <a:endParaRPr lang="en-US" altLang="ko-KR" sz="1200"/>
          </a:p>
          <a:p>
            <a:pPr algn="ctr"/>
            <a:r>
              <a:rPr lang="en-US" altLang="ko-KR" sz="2400" b="1"/>
              <a:t>35</a:t>
            </a:r>
            <a:r>
              <a:rPr lang="en-US" altLang="ko-KR" sz="1200" b="1"/>
              <a:t> </a:t>
            </a:r>
            <a:r>
              <a:rPr lang="ko-KR" altLang="en-US" sz="1200"/>
              <a:t>명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1943100" y="5809011"/>
            <a:ext cx="4448175" cy="1056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 flipV="1">
            <a:off x="1943099" y="3653087"/>
            <a:ext cx="2256" cy="2155924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218682"/>
              </p:ext>
            </p:extLst>
          </p:nvPr>
        </p:nvGraphicFramePr>
        <p:xfrm>
          <a:off x="1943099" y="3013066"/>
          <a:ext cx="1895477" cy="341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952">
                  <a:extLst>
                    <a:ext uri="{9D8B030D-6E8A-4147-A177-3AD203B41FA5}">
                      <a16:colId xmlns:a16="http://schemas.microsoft.com/office/drawing/2014/main" val="2830226518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692620091"/>
                    </a:ext>
                  </a:extLst>
                </a:gridCol>
              </a:tblGrid>
              <a:tr h="341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시간대별 방문수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유입경로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101508"/>
                  </a:ext>
                </a:extLst>
              </a:tr>
            </a:tbl>
          </a:graphicData>
        </a:graphic>
      </p:graphicFrame>
      <p:cxnSp>
        <p:nvCxnSpPr>
          <p:cNvPr id="28" name="직선 연결선 27"/>
          <p:cNvCxnSpPr/>
          <p:nvPr/>
        </p:nvCxnSpPr>
        <p:spPr>
          <a:xfrm>
            <a:off x="1980949" y="3352829"/>
            <a:ext cx="4448175" cy="1398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825789" y="5819580"/>
            <a:ext cx="4914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00   01   02   03   04   05   06   07   08   09   10   11   12   13   14   15   16   17   18   19   20   21   22  23  </a:t>
            </a:r>
            <a:r>
              <a:rPr lang="en-US" altLang="ko-KR" sz="800"/>
              <a:t>(</a:t>
            </a:r>
            <a:r>
              <a:rPr lang="ko-KR" altLang="en-US" sz="800"/>
              <a:t>시</a:t>
            </a:r>
            <a:r>
              <a:rPr lang="en-US" altLang="ko-KR" sz="800"/>
              <a:t>)</a:t>
            </a:r>
            <a:endParaRPr lang="ko-KR" altLang="en-US" sz="800"/>
          </a:p>
        </p:txBody>
      </p:sp>
      <p:cxnSp>
        <p:nvCxnSpPr>
          <p:cNvPr id="33" name="직선 연결선 32"/>
          <p:cNvCxnSpPr/>
          <p:nvPr/>
        </p:nvCxnSpPr>
        <p:spPr>
          <a:xfrm>
            <a:off x="1943099" y="5809011"/>
            <a:ext cx="2133601" cy="105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4086228" y="5225415"/>
            <a:ext cx="206535" cy="60473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4292763" y="4189378"/>
            <a:ext cx="153838" cy="10455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 flipH="1" flipV="1">
            <a:off x="4456056" y="4157931"/>
            <a:ext cx="154045" cy="14202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H="1" flipV="1">
            <a:off x="4609962" y="5558266"/>
            <a:ext cx="187623" cy="1253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H="1">
            <a:off x="4788062" y="5683638"/>
            <a:ext cx="22208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H="1">
            <a:off x="5010150" y="5527782"/>
            <a:ext cx="157162" cy="1558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 flipV="1">
            <a:off x="5156911" y="3799897"/>
            <a:ext cx="203915" cy="17374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H="1" flipV="1">
            <a:off x="5359886" y="3789328"/>
            <a:ext cx="190307" cy="17208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H="1" flipV="1">
            <a:off x="5548312" y="5508732"/>
            <a:ext cx="234371" cy="3214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>
            <a:off x="5767701" y="5809010"/>
            <a:ext cx="623574" cy="105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644313" y="3653788"/>
            <a:ext cx="34591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100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90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80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70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60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50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40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30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20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10</a:t>
            </a:r>
          </a:p>
          <a:p>
            <a:pPr algn="ctr"/>
            <a:endParaRPr lang="en-US" altLang="ko-KR" sz="500"/>
          </a:p>
          <a:p>
            <a:pPr algn="ctr"/>
            <a:r>
              <a:rPr lang="en-US" altLang="ko-KR" sz="800"/>
              <a:t>0</a:t>
            </a:r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4241352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4412522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직사각형 12"/>
          <p:cNvSpPr/>
          <p:nvPr/>
        </p:nvSpPr>
        <p:spPr>
          <a:xfrm>
            <a:off x="-1732547" y="167710"/>
            <a:ext cx="1552072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유입 통계 페이지</a:t>
            </a:r>
            <a:endParaRPr lang="en-US" altLang="ko-KR" sz="14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유입통계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1943100" y="1333146"/>
            <a:ext cx="4448175" cy="1398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943100" y="1733196"/>
            <a:ext cx="4448175" cy="1398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09687" y="1364593"/>
            <a:ext cx="1795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/>
              <a:t>&lt;  2025.12.11. </a:t>
            </a:r>
            <a:r>
              <a:rPr lang="ko-KR" altLang="en-US" sz="1400"/>
              <a:t>📆</a:t>
            </a:r>
            <a:r>
              <a:rPr lang="ko-KR" altLang="en-US" b="1"/>
              <a:t> </a:t>
            </a:r>
            <a:r>
              <a:rPr lang="en-US" altLang="ko-KR" sz="1600" b="1"/>
              <a:t>&gt;</a:t>
            </a:r>
            <a:endParaRPr lang="ko-KR" altLang="en-US" sz="1600" b="1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3290637" y="1911876"/>
            <a:ext cx="1795713" cy="7887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총 방문 수</a:t>
            </a:r>
            <a:endParaRPr lang="en-US" altLang="ko-KR" sz="1200"/>
          </a:p>
          <a:p>
            <a:pPr algn="ctr"/>
            <a:r>
              <a:rPr lang="en-US" altLang="ko-KR" sz="2400" b="1"/>
              <a:t>35</a:t>
            </a:r>
            <a:r>
              <a:rPr lang="en-US" altLang="ko-KR" sz="1200" b="1"/>
              <a:t> </a:t>
            </a:r>
            <a:r>
              <a:rPr lang="ko-KR" altLang="en-US" sz="1200"/>
              <a:t>명</a:t>
            </a: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531230"/>
              </p:ext>
            </p:extLst>
          </p:nvPr>
        </p:nvGraphicFramePr>
        <p:xfrm>
          <a:off x="1943099" y="3013066"/>
          <a:ext cx="1895477" cy="341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952">
                  <a:extLst>
                    <a:ext uri="{9D8B030D-6E8A-4147-A177-3AD203B41FA5}">
                      <a16:colId xmlns:a16="http://schemas.microsoft.com/office/drawing/2014/main" val="2830226518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692620091"/>
                    </a:ext>
                  </a:extLst>
                </a:gridCol>
              </a:tblGrid>
              <a:tr h="341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시간대별 방문수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유입경로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101508"/>
                  </a:ext>
                </a:extLst>
              </a:tr>
            </a:tbl>
          </a:graphicData>
        </a:graphic>
      </p:graphicFrame>
      <p:cxnSp>
        <p:nvCxnSpPr>
          <p:cNvPr id="28" name="직선 연결선 27"/>
          <p:cNvCxnSpPr/>
          <p:nvPr/>
        </p:nvCxnSpPr>
        <p:spPr>
          <a:xfrm>
            <a:off x="1980949" y="3352829"/>
            <a:ext cx="4448175" cy="1398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71674" y="3393400"/>
            <a:ext cx="3622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유입경로                                                     상세 유입경로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952624" y="3663388"/>
            <a:ext cx="1811128" cy="381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     검색                  </a:t>
            </a:r>
            <a:r>
              <a:rPr lang="en-US" altLang="ko-KR" sz="1200" b="1"/>
              <a:t>80%</a:t>
            </a:r>
            <a:endParaRPr lang="ko-KR" altLang="en-US" b="1"/>
          </a:p>
        </p:txBody>
      </p:sp>
      <p:sp>
        <p:nvSpPr>
          <p:cNvPr id="38" name="직사각형 37"/>
          <p:cNvSpPr/>
          <p:nvPr/>
        </p:nvSpPr>
        <p:spPr>
          <a:xfrm>
            <a:off x="3769263" y="3663225"/>
            <a:ext cx="2655847" cy="763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2">
                    <a:lumMod val="50000"/>
                  </a:schemeClr>
                </a:solidFill>
              </a:rPr>
              <a:t>네이버 통함검색</a:t>
            </a:r>
            <a:r>
              <a:rPr lang="en-US" altLang="ko-KR">
                <a:solidFill>
                  <a:schemeClr val="tx2">
                    <a:lumMod val="50000"/>
                  </a:schemeClr>
                </a:solidFill>
              </a:rPr>
              <a:t>_</a:t>
            </a:r>
            <a:r>
              <a:rPr lang="ko-KR" altLang="en-US">
                <a:solidFill>
                  <a:schemeClr val="tx2">
                    <a:lumMod val="50000"/>
                  </a:schemeClr>
                </a:solidFill>
              </a:rPr>
              <a:t>모바일            </a:t>
            </a:r>
            <a:r>
              <a:rPr lang="en-US" altLang="ko-KR">
                <a:solidFill>
                  <a:schemeClr val="tx2">
                    <a:lumMod val="50000"/>
                  </a:schemeClr>
                </a:solidFill>
              </a:rPr>
              <a:t>80%</a:t>
            </a:r>
          </a:p>
          <a:p>
            <a:pPr algn="ctr"/>
            <a:endParaRPr lang="en-US" altLang="ko-KR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endParaRPr lang="ko-KR" alt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이등변 삼각형 9"/>
          <p:cNvSpPr/>
          <p:nvPr/>
        </p:nvSpPr>
        <p:spPr>
          <a:xfrm rot="5400000">
            <a:off x="3662759" y="3764218"/>
            <a:ext cx="381581" cy="179597"/>
          </a:xfrm>
          <a:prstGeom prst="triangle">
            <a:avLst>
              <a:gd name="adj" fmla="val 47476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1952624" y="4044807"/>
            <a:ext cx="1811128" cy="38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2">
                    <a:lumMod val="50000"/>
                  </a:schemeClr>
                </a:solidFill>
              </a:rPr>
              <a:t>       SNS                  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20%</a:t>
            </a:r>
            <a:endParaRPr lang="ko-KR" alt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943099" y="3663225"/>
            <a:ext cx="4482011" cy="76300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919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458"/>
            <a:ext cx="1552074" cy="99045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6858000" cy="661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5925551" y="203076"/>
            <a:ext cx="751975" cy="255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541" y="130884"/>
            <a:ext cx="120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chemeClr val="bg1"/>
                </a:solidFill>
              </a:rPr>
              <a:t>Born2Eat</a:t>
            </a:r>
            <a:endParaRPr lang="ko-KR" altLang="en-US" sz="2000" b="1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4412522"/>
            <a:ext cx="1552074" cy="2978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TextBox 7"/>
          <p:cNvSpPr txBox="1"/>
          <p:nvPr/>
        </p:nvSpPr>
        <p:spPr>
          <a:xfrm>
            <a:off x="159419" y="917348"/>
            <a:ext cx="123323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관리자 페이지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회원관리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 - </a:t>
            </a:r>
            <a:r>
              <a:rPr lang="ko-KR" altLang="en-US" sz="1300">
                <a:solidFill>
                  <a:schemeClr val="bg1"/>
                </a:solidFill>
              </a:rPr>
              <a:t>회원문의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가게관리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가게목록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리뷰목록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태그관리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>
                <a:solidFill>
                  <a:schemeClr val="bg1"/>
                </a:solidFill>
              </a:rPr>
              <a:t>     - </a:t>
            </a:r>
            <a:r>
              <a:rPr lang="ko-KR" altLang="en-US" sz="1300">
                <a:solidFill>
                  <a:schemeClr val="bg1"/>
                </a:solidFill>
              </a:rPr>
              <a:t>태그목록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1300">
              <a:solidFill>
                <a:schemeClr val="bg1"/>
              </a:solidFill>
            </a:endParaRPr>
          </a:p>
          <a:p>
            <a:r>
              <a:rPr lang="ko-KR" altLang="en-US" sz="1300">
                <a:solidFill>
                  <a:schemeClr val="bg1"/>
                </a:solidFill>
              </a:rPr>
              <a:t>사이트관리</a:t>
            </a:r>
            <a:endParaRPr lang="en-US" altLang="ko-KR" sz="1300">
              <a:solidFill>
                <a:schemeClr val="bg1"/>
              </a:solidFill>
            </a:endParaRPr>
          </a:p>
          <a:p>
            <a:endParaRPr lang="en-US" altLang="ko-KR" sz="800">
              <a:solidFill>
                <a:schemeClr val="bg1"/>
              </a:solidFill>
            </a:endParaRPr>
          </a:p>
          <a:p>
            <a:r>
              <a:rPr lang="en-US" altLang="ko-KR" sz="1300" b="1">
                <a:solidFill>
                  <a:schemeClr val="bg1"/>
                </a:solidFill>
              </a:rPr>
              <a:t>     - </a:t>
            </a:r>
            <a:r>
              <a:rPr lang="ko-KR" altLang="en-US" sz="1300" b="1">
                <a:solidFill>
                  <a:schemeClr val="bg1"/>
                </a:solidFill>
              </a:rPr>
              <a:t>유입통계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52073" y="672306"/>
            <a:ext cx="5305927" cy="92336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직사각형 12"/>
          <p:cNvSpPr/>
          <p:nvPr/>
        </p:nvSpPr>
        <p:spPr>
          <a:xfrm>
            <a:off x="-1732547" y="167710"/>
            <a:ext cx="1552072" cy="3263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유입 통계 페이지</a:t>
            </a:r>
            <a:endParaRPr lang="en-US" altLang="ko-KR" sz="1400"/>
          </a:p>
        </p:txBody>
      </p:sp>
      <p:sp>
        <p:nvSpPr>
          <p:cNvPr id="14" name="TextBox 13"/>
          <p:cNvSpPr txBox="1"/>
          <p:nvPr/>
        </p:nvSpPr>
        <p:spPr>
          <a:xfrm>
            <a:off x="1825789" y="917348"/>
            <a:ext cx="1735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■</a:t>
            </a:r>
            <a:r>
              <a:rPr lang="ko-KR" altLang="en-US" sz="1600" b="1"/>
              <a:t> 유입통계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1943100" y="1333146"/>
            <a:ext cx="4448175" cy="1398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943100" y="1733196"/>
            <a:ext cx="4448175" cy="1398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09687" y="1364593"/>
            <a:ext cx="1795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/>
              <a:t>&lt;  2025.12.11. </a:t>
            </a:r>
            <a:r>
              <a:rPr lang="ko-KR" altLang="en-US" sz="1400"/>
              <a:t>📆</a:t>
            </a:r>
            <a:r>
              <a:rPr lang="ko-KR" altLang="en-US" b="1"/>
              <a:t> </a:t>
            </a:r>
            <a:r>
              <a:rPr lang="en-US" altLang="ko-KR" sz="1600" b="1"/>
              <a:t>&gt;</a:t>
            </a:r>
            <a:endParaRPr lang="ko-KR" altLang="en-US" sz="1600" b="1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3290637" y="1911876"/>
            <a:ext cx="1795713" cy="7887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총 방문 수</a:t>
            </a:r>
            <a:endParaRPr lang="en-US" altLang="ko-KR" sz="1200"/>
          </a:p>
          <a:p>
            <a:pPr algn="ctr"/>
            <a:r>
              <a:rPr lang="en-US" altLang="ko-KR" sz="2400" b="1"/>
              <a:t>35</a:t>
            </a:r>
            <a:r>
              <a:rPr lang="en-US" altLang="ko-KR" sz="1200" b="1"/>
              <a:t> </a:t>
            </a:r>
            <a:r>
              <a:rPr lang="ko-KR" altLang="en-US" sz="1200"/>
              <a:t>명</a:t>
            </a:r>
          </a:p>
        </p:txBody>
      </p:sp>
      <p:graphicFrame>
        <p:nvGraphicFramePr>
          <p:cNvPr id="27" name="표 26"/>
          <p:cNvGraphicFramePr>
            <a:graphicFrameLocks noGrp="1"/>
          </p:cNvGraphicFramePr>
          <p:nvPr/>
        </p:nvGraphicFramePr>
        <p:xfrm>
          <a:off x="1943099" y="3013066"/>
          <a:ext cx="1895477" cy="341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952">
                  <a:extLst>
                    <a:ext uri="{9D8B030D-6E8A-4147-A177-3AD203B41FA5}">
                      <a16:colId xmlns:a16="http://schemas.microsoft.com/office/drawing/2014/main" val="2830226518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692620091"/>
                    </a:ext>
                  </a:extLst>
                </a:gridCol>
              </a:tblGrid>
              <a:tr h="341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시간대별 방문수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유입경로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101508"/>
                  </a:ext>
                </a:extLst>
              </a:tr>
            </a:tbl>
          </a:graphicData>
        </a:graphic>
      </p:graphicFrame>
      <p:cxnSp>
        <p:nvCxnSpPr>
          <p:cNvPr id="28" name="직선 연결선 27"/>
          <p:cNvCxnSpPr/>
          <p:nvPr/>
        </p:nvCxnSpPr>
        <p:spPr>
          <a:xfrm>
            <a:off x="1980949" y="3352829"/>
            <a:ext cx="4448175" cy="1398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71674" y="3393400"/>
            <a:ext cx="3622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/>
              <a:t>유입경로                                                     상세 유입경로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952624" y="3663388"/>
            <a:ext cx="1811128" cy="38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2">
                    <a:lumMod val="50000"/>
                  </a:schemeClr>
                </a:solidFill>
              </a:rPr>
              <a:t>     검색                 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80%</a:t>
            </a:r>
            <a:endParaRPr lang="ko-KR" alt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769263" y="3663225"/>
            <a:ext cx="2655847" cy="763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2">
                    <a:lumMod val="50000"/>
                  </a:schemeClr>
                </a:solidFill>
              </a:rPr>
              <a:t>인스타그램                              </a:t>
            </a:r>
            <a:r>
              <a:rPr lang="en-US" altLang="ko-KR">
                <a:solidFill>
                  <a:schemeClr val="tx2">
                    <a:lumMod val="50000"/>
                  </a:schemeClr>
                </a:solidFill>
              </a:rPr>
              <a:t>15%</a:t>
            </a:r>
          </a:p>
          <a:p>
            <a:pPr algn="ctr"/>
            <a:r>
              <a:rPr lang="ko-KR" altLang="en-US">
                <a:solidFill>
                  <a:schemeClr val="tx2">
                    <a:lumMod val="50000"/>
                  </a:schemeClr>
                </a:solidFill>
              </a:rPr>
              <a:t> 페이스북                                  </a:t>
            </a:r>
            <a:r>
              <a:rPr lang="en-US" altLang="ko-KR">
                <a:solidFill>
                  <a:schemeClr val="tx2">
                    <a:lumMod val="50000"/>
                  </a:schemeClr>
                </a:solidFill>
              </a:rPr>
              <a:t>5%</a:t>
            </a:r>
          </a:p>
          <a:p>
            <a:pPr algn="ctr"/>
            <a:endParaRPr lang="ko-KR" alt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이등변 삼각형 9"/>
          <p:cNvSpPr/>
          <p:nvPr/>
        </p:nvSpPr>
        <p:spPr>
          <a:xfrm rot="5400000">
            <a:off x="3662759" y="4154743"/>
            <a:ext cx="381581" cy="179597"/>
          </a:xfrm>
          <a:prstGeom prst="triangle">
            <a:avLst>
              <a:gd name="adj" fmla="val 47476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1952624" y="4044807"/>
            <a:ext cx="1811128" cy="381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bg1"/>
                </a:solidFill>
              </a:rPr>
              <a:t>       SNS                   </a:t>
            </a:r>
            <a:r>
              <a:rPr lang="en-US" altLang="ko-KR" sz="1200" b="1">
                <a:solidFill>
                  <a:schemeClr val="bg1"/>
                </a:solidFill>
              </a:rPr>
              <a:t>20%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943099" y="3663225"/>
            <a:ext cx="4482011" cy="76300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16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729</TotalTime>
  <Words>2175</Words>
  <Application>Microsoft Office PowerPoint</Application>
  <PresentationFormat>A4 용지(210x297mm)</PresentationFormat>
  <Paragraphs>1432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PC05-13</dc:creator>
  <cp:lastModifiedBy>PC05-13</cp:lastModifiedBy>
  <cp:revision>69</cp:revision>
  <dcterms:created xsi:type="dcterms:W3CDTF">2025-12-10T03:57:59Z</dcterms:created>
  <dcterms:modified xsi:type="dcterms:W3CDTF">2025-12-12T01:15:17Z</dcterms:modified>
</cp:coreProperties>
</file>